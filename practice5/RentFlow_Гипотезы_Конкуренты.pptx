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4630400" cy="8229600"/>
  <p:notesSz cx="8229600" cy="146304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Roboto" panose="02000000000000000000" pitchFamily="2" charset="0"/>
      <p:regular r:id="rId18"/>
    </p:embeddedFont>
    <p:embeddedFont>
      <p:font typeface="Roboto Medium" panose="020B0604020202020204" charset="0"/>
      <p:regular r:id="rId19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393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8472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916" y="4229098"/>
            <a:ext cx="14630400" cy="453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100"/>
              </a:lnSpc>
            </a:pPr>
            <a:r>
              <a:rPr lang="en-US" sz="15000" b="1" dirty="0" err="1">
                <a:solidFill>
                  <a:srgbClr val="5A6E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RentFlow</a:t>
            </a:r>
            <a:endParaRPr lang="en-US" sz="15000" b="1" dirty="0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8352BDF5-65C1-49F6-8057-A8C8FA4975D8}"/>
              </a:ext>
            </a:extLst>
          </p:cNvPr>
          <p:cNvSpPr/>
          <p:nvPr/>
        </p:nvSpPr>
        <p:spPr>
          <a:xfrm>
            <a:off x="12661305" y="6175612"/>
            <a:ext cx="1806535" cy="1281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ru-RU" sz="20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Выполнили</a:t>
            </a:r>
            <a:r>
              <a:rPr lang="en-US" sz="20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</a:t>
            </a:r>
            <a:endParaRPr lang="ru-RU" sz="2000" b="1" dirty="0">
              <a:solidFill>
                <a:srgbClr val="CFD0D8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r">
              <a:buNone/>
            </a:pPr>
            <a:r>
              <a:rPr lang="ru-RU" sz="20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Дмитриев А.В.</a:t>
            </a:r>
          </a:p>
          <a:p>
            <a:pPr marL="0" indent="0" algn="r">
              <a:buNone/>
            </a:pPr>
            <a:r>
              <a:rPr lang="ru-RU" sz="20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Дубов Н.С.</a:t>
            </a:r>
          </a:p>
          <a:p>
            <a:pPr marL="0" indent="0" algn="r">
              <a:buNone/>
            </a:pPr>
            <a:r>
              <a:rPr lang="ru-RU" sz="20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Бурков О.А.</a:t>
            </a:r>
          </a:p>
          <a:p>
            <a:pPr marL="0" indent="0" algn="r">
              <a:buNone/>
            </a:pPr>
            <a:r>
              <a:rPr lang="ru-RU" sz="20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Долгова С.С.</a:t>
            </a:r>
            <a:endParaRPr lang="en-US" sz="2000" b="1" dirty="0">
              <a:solidFill>
                <a:srgbClr val="CFD0D8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0AD6201C-FCB2-4545-89E4-6654682D0ADF}"/>
              </a:ext>
            </a:extLst>
          </p:cNvPr>
          <p:cNvSpPr/>
          <p:nvPr/>
        </p:nvSpPr>
        <p:spPr>
          <a:xfrm>
            <a:off x="173832" y="4682488"/>
            <a:ext cx="14630400" cy="453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ru-RU" sz="28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сервис управления арендной недвижимостью</a:t>
            </a:r>
            <a:endParaRPr lang="en-US" sz="28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08265" y="1272421"/>
            <a:ext cx="5093851" cy="453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Сегмент, сценарий, проблема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2308265" y="1911429"/>
            <a:ext cx="10013752" cy="2380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Сегмент:</a:t>
            </a: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Арендодатели жилой недвижимости (частные лица и небольшие инвесторы с 1–10 объектами).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308265" y="2253853"/>
            <a:ext cx="10013752" cy="476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Сценарий:</a:t>
            </a: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Арендодатель сдаёт квартиру → общается с жильцом → отслеживает оплату → решает бытовые проблемы → хранит документы.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308265" y="2869049"/>
            <a:ext cx="2176820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5A6E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Проблема: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308265" y="3280291"/>
            <a:ext cx="10013752" cy="858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Вся коммуникация разбросана (мессенджеры, звонки, заметки)</a:t>
            </a:r>
            <a:endParaRPr lang="en-US" sz="11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Нет системы контроля платежей</a:t>
            </a:r>
            <a:endParaRPr lang="en-US" sz="11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Документы теряются</a:t>
            </a:r>
            <a:endParaRPr lang="en-US" sz="11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Нет прозрачного учёта по нескольким объектам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308265" y="4278154"/>
            <a:ext cx="2176820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5A6E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Последствия: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308265" y="4689396"/>
            <a:ext cx="10013752" cy="858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Просрочки оплат</a:t>
            </a:r>
            <a:endParaRPr lang="en-US" sz="11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Конфликты</a:t>
            </a:r>
            <a:endParaRPr lang="en-US" sz="11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Потеря времени</a:t>
            </a:r>
            <a:endParaRPr lang="en-US" sz="11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Финансовые потери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08265" y="5687258"/>
            <a:ext cx="2467570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5A6E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Текущие альтернативы: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308265" y="6098500"/>
            <a:ext cx="10013752" cy="858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WhatsApp / Telegram</a:t>
            </a:r>
            <a:endParaRPr lang="en-US" sz="11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Excel / заметки</a:t>
            </a:r>
            <a:endParaRPr lang="en-US" sz="11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Банковские переводы</a:t>
            </a:r>
            <a:endParaRPr lang="en-US" sz="11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Устные договорённости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426698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6280" y="920829"/>
            <a:ext cx="6938605" cy="639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Конкуренты и альтернативы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16280" y="2448520"/>
            <a:ext cx="13197840" cy="4860250"/>
          </a:xfrm>
          <a:prstGeom prst="roundRect">
            <a:avLst>
              <a:gd name="adj" fmla="val 1769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3900" y="2456140"/>
            <a:ext cx="13182600" cy="85939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28449" y="2574488"/>
            <a:ext cx="2882741" cy="311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 Авито Недвижимость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227909" y="2574488"/>
            <a:ext cx="1560671" cy="311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Тип: косвенный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05299" y="2574488"/>
            <a:ext cx="3538061" cy="622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Сильные: большая аудитория, удобно искать арендаторов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79" y="2574488"/>
            <a:ext cx="3541871" cy="622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Слабые: нет управления после сделки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23900" y="3315533"/>
            <a:ext cx="13182600" cy="85939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28449" y="3433882"/>
            <a:ext cx="2882741" cy="311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 Циан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27909" y="3433882"/>
            <a:ext cx="1560671" cy="311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Тип: косвенный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05299" y="3433882"/>
            <a:ext cx="3538061" cy="311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Сильные: доверие, база объявлений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60079" y="3433882"/>
            <a:ext cx="3541871" cy="622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Слабые: нет инструментов взаимодействия после аренды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23900" y="4174927"/>
            <a:ext cx="13182600" cy="85939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28449" y="4293275"/>
            <a:ext cx="2882741" cy="311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 Google Sheets / Excel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227909" y="4293275"/>
            <a:ext cx="1560671" cy="311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Тип: замена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05299" y="4293275"/>
            <a:ext cx="3538061" cy="311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Сильные: гибкость, бесплатно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60079" y="4293275"/>
            <a:ext cx="3541871" cy="622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Слабые: неудобно, нет автоматизации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23900" y="5034320"/>
            <a:ext cx="13182600" cy="54804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28449" y="5152668"/>
            <a:ext cx="2882741" cy="311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 WhatsApp / Telegram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227909" y="5152668"/>
            <a:ext cx="1560671" cy="311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Тип: замена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05299" y="5152668"/>
            <a:ext cx="3538061" cy="311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Сильные: привычность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160079" y="5152668"/>
            <a:ext cx="3541871" cy="311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Слабые: хаос, нет структуры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23900" y="5582364"/>
            <a:ext cx="13182600" cy="85939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928449" y="5700712"/>
            <a:ext cx="2882741" cy="311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 Банковские переводы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227909" y="5700712"/>
            <a:ext cx="1560671" cy="311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Тип: замена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205299" y="5700712"/>
            <a:ext cx="3538061" cy="311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Сильные: надёжность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160079" y="5700712"/>
            <a:ext cx="3541871" cy="622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Слабые: нет автоматических напоминаний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23900" y="6441758"/>
            <a:ext cx="13182600" cy="85939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928449" y="6560106"/>
            <a:ext cx="2882741" cy="622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6. Property Management CRM (западные сервисы)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227909" y="6560106"/>
            <a:ext cx="1560671" cy="311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Тип: прямой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205299" y="6560106"/>
            <a:ext cx="3538061" cy="311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Сильные: полный функционал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160079" y="6560106"/>
            <a:ext cx="3541871" cy="622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Слабые: сложность, не адаптированы под РФ/СНГ, дорогие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0518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Окна возможностей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04693"/>
            <a:ext cx="375261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A6E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Где конкуренты слабы: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793790" y="3070146"/>
            <a:ext cx="4196358" cy="1240393"/>
          </a:xfrm>
          <a:prstGeom prst="roundRect">
            <a:avLst>
              <a:gd name="adj" fmla="val 7680"/>
            </a:avLst>
          </a:prstGeom>
          <a:solidFill>
            <a:srgbClr val="000018">
              <a:alpha val="95000"/>
            </a:srgbClr>
          </a:solidFill>
          <a:ln w="30480">
            <a:solidFill>
              <a:srgbClr val="313E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084" y="3327440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Нет решения "после сдачи жилья"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3070146"/>
            <a:ext cx="4196358" cy="1240393"/>
          </a:xfrm>
          <a:prstGeom prst="roundRect">
            <a:avLst>
              <a:gd name="adj" fmla="val 7680"/>
            </a:avLst>
          </a:prstGeom>
          <a:solidFill>
            <a:srgbClr val="000018">
              <a:alpha val="95000"/>
            </a:srgbClr>
          </a:solidFill>
          <a:ln w="30480">
            <a:solidFill>
              <a:srgbClr val="313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74256" y="3327440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Нет единого пространства для аренды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9640133" y="3070146"/>
            <a:ext cx="4196358" cy="1240393"/>
          </a:xfrm>
          <a:prstGeom prst="roundRect">
            <a:avLst>
              <a:gd name="adj" fmla="val 7680"/>
            </a:avLst>
          </a:prstGeom>
          <a:solidFill>
            <a:srgbClr val="000018">
              <a:alpha val="95000"/>
            </a:srgbClr>
          </a:solidFill>
          <a:ln w="30480">
            <a:solidFill>
              <a:srgbClr val="313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97427" y="3327440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Нет простых и дешёвых решений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93790" y="4537353"/>
            <a:ext cx="6407944" cy="877491"/>
          </a:xfrm>
          <a:prstGeom prst="roundRect">
            <a:avLst>
              <a:gd name="adj" fmla="val 10857"/>
            </a:avLst>
          </a:prstGeom>
          <a:solidFill>
            <a:srgbClr val="000018">
              <a:alpha val="95000"/>
            </a:srgbClr>
          </a:solidFill>
          <a:ln w="30480">
            <a:solidFill>
              <a:srgbClr val="313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084" y="4794647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Плохой UX у сложных систем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548" y="4537353"/>
            <a:ext cx="6407944" cy="877491"/>
          </a:xfrm>
          <a:prstGeom prst="roundRect">
            <a:avLst>
              <a:gd name="adj" fmla="val 10857"/>
            </a:avLst>
          </a:prstGeom>
          <a:solidFill>
            <a:srgbClr val="000018">
              <a:alpha val="95000"/>
            </a:srgbClr>
          </a:solidFill>
          <a:ln w="30480">
            <a:solidFill>
              <a:srgbClr val="313E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5842" y="4794647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Нет фокуса на малых арендодателях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93790" y="5669994"/>
            <a:ext cx="13042821" cy="1054418"/>
          </a:xfrm>
          <a:prstGeom prst="roundRect">
            <a:avLst>
              <a:gd name="adj" fmla="val 9035"/>
            </a:avLst>
          </a:prstGeom>
          <a:solidFill>
            <a:srgbClr val="0F163E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6025396"/>
            <a:ext cx="354330" cy="28348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601748" y="5953482"/>
            <a:ext cx="12008048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👉</a:t>
            </a:r>
            <a:r>
              <a:rPr lang="en-US" sz="2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Вывод: Рынок не закрыт → есть ниша для простого, удобного и дешёвого сервиса.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92887"/>
            <a:ext cx="951678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Критерии выбора (с приоритетами)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9239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A6E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Топ-3 (ключевые):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793790" y="2757845"/>
            <a:ext cx="4196358" cy="2084784"/>
          </a:xfrm>
          <a:prstGeom prst="roundRect">
            <a:avLst>
              <a:gd name="adj" fmla="val 4570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8224" y="299227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5A6ED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5390" y="3179326"/>
            <a:ext cx="306110" cy="3061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8224" y="3899535"/>
            <a:ext cx="337268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Простота использования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216962" y="2757845"/>
            <a:ext cx="4196358" cy="2084784"/>
          </a:xfrm>
          <a:prstGeom prst="roundRect">
            <a:avLst>
              <a:gd name="adj" fmla="val 4570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51396" y="299227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5A6ED8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38562" y="3179326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51396" y="3899535"/>
            <a:ext cx="372749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Надёжность и контроль оплат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9640133" y="2757845"/>
            <a:ext cx="4196358" cy="2084784"/>
          </a:xfrm>
          <a:prstGeom prst="roundRect">
            <a:avLst>
              <a:gd name="adj" fmla="val 4570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9874568" y="299227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5A6ED8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61734" y="3179326"/>
            <a:ext cx="306110" cy="30611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874568" y="38995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Цена / окупаемость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93790" y="5182791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A6E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Дополнительно:</a:t>
            </a:r>
            <a:endParaRPr lang="en-US" sz="2650" dirty="0"/>
          </a:p>
        </p:txBody>
      </p:sp>
      <p:sp>
        <p:nvSpPr>
          <p:cNvPr id="17" name="Text 12"/>
          <p:cNvSpPr/>
          <p:nvPr/>
        </p:nvSpPr>
        <p:spPr>
          <a:xfrm>
            <a:off x="793790" y="6152317"/>
            <a:ext cx="6244709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Безопасность данных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Удобство общения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7599521" y="6152317"/>
            <a:ext cx="6244709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Централизация информации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Поддержка нескольких объектов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9203"/>
            <a:ext cx="836437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Гипотезы ценности (варианты)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401610"/>
            <a:ext cx="4196358" cy="4588669"/>
          </a:xfrm>
          <a:prstGeom prst="roundRect">
            <a:avLst>
              <a:gd name="adj" fmla="val 2270"/>
            </a:avLst>
          </a:prstGeom>
          <a:solidFill>
            <a:srgbClr val="000018">
              <a:alpha val="95000"/>
            </a:srgbClr>
          </a:solidFill>
          <a:ln w="30480">
            <a:solidFill>
              <a:srgbClr val="313E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270" y="2432090"/>
            <a:ext cx="4135398" cy="680442"/>
          </a:xfrm>
          <a:prstGeom prst="roundRect">
            <a:avLst>
              <a:gd name="adj" fmla="val 8626"/>
            </a:avLst>
          </a:prstGeom>
          <a:solidFill>
            <a:srgbClr val="182567"/>
          </a:solidFill>
          <a:ln/>
        </p:spPr>
      </p:sp>
      <p:sp>
        <p:nvSpPr>
          <p:cNvPr id="5" name="Text 3"/>
          <p:cNvSpPr/>
          <p:nvPr/>
        </p:nvSpPr>
        <p:spPr>
          <a:xfrm>
            <a:off x="2721888" y="255579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051084" y="33393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Вариант 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084" y="3829764"/>
            <a:ext cx="3681770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Для арендодателей с несколькими объектами мы обеспечиваем контроль аренды и коммуникации, снижая просрочки платежей по сравнению с мессенджерами, за счёт автоматизации и единой платформы.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2401610"/>
            <a:ext cx="4196358" cy="4588669"/>
          </a:xfrm>
          <a:prstGeom prst="roundRect">
            <a:avLst>
              <a:gd name="adj" fmla="val 2270"/>
            </a:avLst>
          </a:prstGeom>
          <a:solidFill>
            <a:srgbClr val="000018">
              <a:alpha val="95000"/>
            </a:srgbClr>
          </a:solidFill>
          <a:ln w="30480">
            <a:solidFill>
              <a:srgbClr val="313E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47442" y="2432090"/>
            <a:ext cx="4135398" cy="680442"/>
          </a:xfrm>
          <a:prstGeom prst="roundRect">
            <a:avLst>
              <a:gd name="adj" fmla="val 8626"/>
            </a:avLst>
          </a:prstGeom>
          <a:solidFill>
            <a:srgbClr val="182567"/>
          </a:solidFill>
          <a:ln/>
        </p:spPr>
      </p:sp>
      <p:sp>
        <p:nvSpPr>
          <p:cNvPr id="10" name="Text 8"/>
          <p:cNvSpPr/>
          <p:nvPr/>
        </p:nvSpPr>
        <p:spPr>
          <a:xfrm>
            <a:off x="7145060" y="255579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5474256" y="33393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Вариант 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74256" y="3829764"/>
            <a:ext cx="368177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Для частных арендодателей мы упрощаем управление жильём, экономя время по сравнению с Excel и заметками, за счёт структурированного приложения.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640133" y="2401610"/>
            <a:ext cx="4196358" cy="4588669"/>
          </a:xfrm>
          <a:prstGeom prst="roundRect">
            <a:avLst>
              <a:gd name="adj" fmla="val 2270"/>
            </a:avLst>
          </a:prstGeom>
          <a:solidFill>
            <a:srgbClr val="000018">
              <a:alpha val="95000"/>
            </a:srgbClr>
          </a:solidFill>
          <a:ln w="30480">
            <a:solidFill>
              <a:srgbClr val="313E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70613" y="2432090"/>
            <a:ext cx="4135398" cy="680442"/>
          </a:xfrm>
          <a:prstGeom prst="roundRect">
            <a:avLst>
              <a:gd name="adj" fmla="val 8626"/>
            </a:avLst>
          </a:prstGeom>
          <a:solidFill>
            <a:srgbClr val="182567"/>
          </a:solidFill>
          <a:ln/>
        </p:spPr>
      </p:sp>
      <p:sp>
        <p:nvSpPr>
          <p:cNvPr id="15" name="Text 13"/>
          <p:cNvSpPr/>
          <p:nvPr/>
        </p:nvSpPr>
        <p:spPr>
          <a:xfrm>
            <a:off x="11568232" y="255579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3</a:t>
            </a:r>
            <a:endParaRPr lang="en-US" sz="2650" dirty="0"/>
          </a:p>
        </p:txBody>
      </p:sp>
      <p:sp>
        <p:nvSpPr>
          <p:cNvPr id="16" name="Text 14"/>
          <p:cNvSpPr/>
          <p:nvPr/>
        </p:nvSpPr>
        <p:spPr>
          <a:xfrm>
            <a:off x="9897427" y="3339346"/>
            <a:ext cx="28838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Вариант 3 (основной)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897427" y="3829764"/>
            <a:ext cx="3681770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Для арендодателей в процессе сдачи жилья мы обеспечиваем полный контроль аренды (оплаты, общение, проблемы), снижая хаос и потери денег по сравнению с мессенджерами и таблицами, за счёт единого цифрового пространства.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80009"/>
            <a:ext cx="842248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Почему это лучше конкурентов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79514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A6E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Отличие: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793790" y="354496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30906" y="3618667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 поиск арендатора → а управление после сделки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35893" y="354496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73008" y="3618667"/>
            <a:ext cx="34214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Всё в одном месте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9677995" y="354496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15111" y="3618667"/>
            <a:ext cx="34214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Простота вместо сложных CRM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468463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A6E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Почему поверят:</a:t>
            </a:r>
            <a:endParaRPr lang="en-US" sz="2650" dirty="0"/>
          </a:p>
        </p:txBody>
      </p:sp>
      <p:sp>
        <p:nvSpPr>
          <p:cNvPr id="11" name="Shape 9"/>
          <p:cNvSpPr/>
          <p:nvPr/>
        </p:nvSpPr>
        <p:spPr>
          <a:xfrm>
            <a:off x="793790" y="545008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30906" y="5523786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Понятная ценность (экономия времени и денег)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5235893" y="545008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73008" y="5523786"/>
            <a:ext cx="34214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Низкая </a:t>
            </a:r>
            <a:r>
              <a:rPr lang="en-US" sz="17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цена</a:t>
            </a: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(200₽ за объект)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9677995" y="545008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15111" y="5523786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Привычный формат (как мессенджер + напоминания)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2447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MVP — Core функции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239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4379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(самое важное)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01847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01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3373517"/>
            <a:ext cx="4196358" cy="30480"/>
          </a:xfrm>
          <a:prstGeom prst="rect">
            <a:avLst/>
          </a:prstGeom>
          <a:solidFill>
            <a:srgbClr val="5A6ED8"/>
          </a:solidFill>
          <a:ln/>
        </p:spPr>
      </p:sp>
      <p:sp>
        <p:nvSpPr>
          <p:cNvPr id="6" name="Text 4"/>
          <p:cNvSpPr/>
          <p:nvPr/>
        </p:nvSpPr>
        <p:spPr>
          <a:xfrm>
            <a:off x="793790" y="3547824"/>
            <a:ext cx="419635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Система объектов и арендаторов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4392573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 даёт структуру (ключевая ценность)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216962" y="301847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02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3373517"/>
            <a:ext cx="4196358" cy="30480"/>
          </a:xfrm>
          <a:prstGeom prst="rect">
            <a:avLst/>
          </a:prstGeom>
          <a:solidFill>
            <a:srgbClr val="5A6ED8"/>
          </a:solidFill>
          <a:ln/>
        </p:spPr>
      </p:sp>
      <p:sp>
        <p:nvSpPr>
          <p:cNvPr id="10" name="Text 8"/>
          <p:cNvSpPr/>
          <p:nvPr/>
        </p:nvSpPr>
        <p:spPr>
          <a:xfrm>
            <a:off x="5216962" y="3547824"/>
            <a:ext cx="419635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Чат арендодатель — арендатор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216962" y="4392573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 заменяет мессенджеры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9640133" y="301847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640133" y="3373517"/>
            <a:ext cx="4196358" cy="30480"/>
          </a:xfrm>
          <a:prstGeom prst="rect">
            <a:avLst/>
          </a:prstGeom>
          <a:solidFill>
            <a:srgbClr val="5A6ED8"/>
          </a:solidFill>
          <a:ln/>
        </p:spPr>
      </p:sp>
      <p:sp>
        <p:nvSpPr>
          <p:cNvPr id="14" name="Text 12"/>
          <p:cNvSpPr/>
          <p:nvPr/>
        </p:nvSpPr>
        <p:spPr>
          <a:xfrm>
            <a:off x="9640133" y="3547824"/>
            <a:ext cx="322528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Напоминания об оплате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640133" y="4038243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 снижает просрочки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93790" y="51523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93790" y="5507355"/>
            <a:ext cx="6407944" cy="30480"/>
          </a:xfrm>
          <a:prstGeom prst="rect">
            <a:avLst/>
          </a:prstGeom>
          <a:solidFill>
            <a:srgbClr val="5A6ED8"/>
          </a:solidFill>
          <a:ln/>
        </p:spPr>
      </p:sp>
      <p:sp>
        <p:nvSpPr>
          <p:cNvPr id="18" name="Text 16"/>
          <p:cNvSpPr/>
          <p:nvPr/>
        </p:nvSpPr>
        <p:spPr>
          <a:xfrm>
            <a:off x="793790" y="56816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Учёт платежей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93790" y="6172081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 контроль финансов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7428548" y="51523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7428548" y="5507355"/>
            <a:ext cx="6407944" cy="30480"/>
          </a:xfrm>
          <a:prstGeom prst="rect">
            <a:avLst/>
          </a:prstGeom>
          <a:solidFill>
            <a:srgbClr val="5A6ED8"/>
          </a:solidFill>
          <a:ln/>
        </p:spPr>
      </p:sp>
      <p:sp>
        <p:nvSpPr>
          <p:cNvPr id="22" name="Text 20"/>
          <p:cNvSpPr/>
          <p:nvPr/>
        </p:nvSpPr>
        <p:spPr>
          <a:xfrm>
            <a:off x="7428548" y="5681663"/>
            <a:ext cx="365545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Раздел "проблемы/заявки"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428548" y="6172081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 прозрачность задач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4537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Support и Later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32112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A6E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Support: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973235"/>
            <a:ext cx="6244709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Хранение документов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История взаимодействий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Уведомления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Простая аналитика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Роли пользователей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32112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A6E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Later: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7599521" y="3973235"/>
            <a:ext cx="6244709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Встроенная оплата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Интеграции с банками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Автоматические договоры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Рейтинг арендаторов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AI-помощник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3427" y="654487"/>
            <a:ext cx="5381625" cy="672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Гипотезы проверки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53427" y="2058591"/>
            <a:ext cx="6459617" cy="2494717"/>
          </a:xfrm>
          <a:prstGeom prst="roundRect">
            <a:avLst>
              <a:gd name="adj" fmla="val 5865"/>
            </a:avLst>
          </a:prstGeom>
          <a:solidFill>
            <a:srgbClr val="000018">
              <a:alpha val="9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53427" y="2028111"/>
            <a:ext cx="6459617" cy="121920"/>
          </a:xfrm>
          <a:prstGeom prst="roundRect">
            <a:avLst>
              <a:gd name="adj" fmla="val 74157"/>
            </a:avLst>
          </a:prstGeom>
          <a:solidFill>
            <a:srgbClr val="5A6ED8"/>
          </a:solidFill>
          <a:ln/>
        </p:spPr>
      </p:sp>
      <p:sp>
        <p:nvSpPr>
          <p:cNvPr id="5" name="Shape 3"/>
          <p:cNvSpPr/>
          <p:nvPr/>
        </p:nvSpPr>
        <p:spPr>
          <a:xfrm>
            <a:off x="3660338" y="1735693"/>
            <a:ext cx="645795" cy="645795"/>
          </a:xfrm>
          <a:prstGeom prst="roundRect">
            <a:avLst>
              <a:gd name="adj" fmla="val 141593"/>
            </a:avLst>
          </a:prstGeom>
          <a:solidFill>
            <a:srgbClr val="5A6ED8"/>
          </a:solidFill>
          <a:ln/>
        </p:spPr>
      </p:sp>
      <p:sp>
        <p:nvSpPr>
          <p:cNvPr id="6" name="Text 4"/>
          <p:cNvSpPr/>
          <p:nvPr/>
        </p:nvSpPr>
        <p:spPr>
          <a:xfrm>
            <a:off x="3854052" y="1855809"/>
            <a:ext cx="258247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99173" y="2596753"/>
            <a:ext cx="2690812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Гипотеза 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99173" y="3055620"/>
            <a:ext cx="5968127" cy="335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Проблема реальна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99173" y="3513773"/>
            <a:ext cx="5968127" cy="335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Метод: интервью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9173" y="3971925"/>
            <a:ext cx="5968127" cy="335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Критерий: 70% подтверждают боль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417237" y="2058591"/>
            <a:ext cx="6459736" cy="2494717"/>
          </a:xfrm>
          <a:prstGeom prst="roundRect">
            <a:avLst>
              <a:gd name="adj" fmla="val 5865"/>
            </a:avLst>
          </a:prstGeom>
          <a:solidFill>
            <a:srgbClr val="000018">
              <a:alpha val="9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417237" y="2028111"/>
            <a:ext cx="6459736" cy="121920"/>
          </a:xfrm>
          <a:prstGeom prst="roundRect">
            <a:avLst>
              <a:gd name="adj" fmla="val 74157"/>
            </a:avLst>
          </a:prstGeom>
          <a:solidFill>
            <a:srgbClr val="5A6ED8"/>
          </a:solidFill>
          <a:ln/>
        </p:spPr>
      </p:sp>
      <p:sp>
        <p:nvSpPr>
          <p:cNvPr id="13" name="Shape 11"/>
          <p:cNvSpPr/>
          <p:nvPr/>
        </p:nvSpPr>
        <p:spPr>
          <a:xfrm>
            <a:off x="10324148" y="1735693"/>
            <a:ext cx="645795" cy="645795"/>
          </a:xfrm>
          <a:prstGeom prst="roundRect">
            <a:avLst>
              <a:gd name="adj" fmla="val 141593"/>
            </a:avLst>
          </a:prstGeom>
          <a:solidFill>
            <a:srgbClr val="5A6ED8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7861" y="1854400"/>
            <a:ext cx="258247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662982" y="2596753"/>
            <a:ext cx="2690812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Гипотеза 2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662982" y="3055620"/>
            <a:ext cx="5968246" cy="335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Готовность использовать сервис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7662982" y="3513773"/>
            <a:ext cx="5968246" cy="335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Метод: прототип / демо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7662982" y="3971925"/>
            <a:ext cx="5968246" cy="335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Критерий: 50% готовы попробовать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753427" y="5080397"/>
            <a:ext cx="6459617" cy="2494717"/>
          </a:xfrm>
          <a:prstGeom prst="roundRect">
            <a:avLst>
              <a:gd name="adj" fmla="val 5865"/>
            </a:avLst>
          </a:prstGeom>
          <a:solidFill>
            <a:srgbClr val="000018">
              <a:alpha val="9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53427" y="5049917"/>
            <a:ext cx="6459617" cy="121920"/>
          </a:xfrm>
          <a:prstGeom prst="roundRect">
            <a:avLst>
              <a:gd name="adj" fmla="val 74157"/>
            </a:avLst>
          </a:prstGeom>
          <a:solidFill>
            <a:srgbClr val="5A6ED8"/>
          </a:solidFill>
          <a:ln/>
        </p:spPr>
      </p:sp>
      <p:sp>
        <p:nvSpPr>
          <p:cNvPr id="21" name="Shape 19"/>
          <p:cNvSpPr/>
          <p:nvPr/>
        </p:nvSpPr>
        <p:spPr>
          <a:xfrm>
            <a:off x="3660338" y="4757499"/>
            <a:ext cx="645795" cy="645795"/>
          </a:xfrm>
          <a:prstGeom prst="roundRect">
            <a:avLst>
              <a:gd name="adj" fmla="val 141593"/>
            </a:avLst>
          </a:prstGeom>
          <a:solidFill>
            <a:srgbClr val="5A6ED8"/>
          </a:solidFill>
          <a:ln/>
        </p:spPr>
      </p:sp>
      <p:sp>
        <p:nvSpPr>
          <p:cNvPr id="22" name="Text 20"/>
          <p:cNvSpPr/>
          <p:nvPr/>
        </p:nvSpPr>
        <p:spPr>
          <a:xfrm>
            <a:off x="3854053" y="4888468"/>
            <a:ext cx="258247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99173" y="5618559"/>
            <a:ext cx="2690812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Гипотеза 3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999173" y="6077426"/>
            <a:ext cx="5968127" cy="335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Готовность платить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999173" y="6535579"/>
            <a:ext cx="5968127" cy="335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Метод: лендинг с ценой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999173" y="6993731"/>
            <a:ext cx="5968127" cy="335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Критерий: ≥10% оставляют заявку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7417237" y="5080397"/>
            <a:ext cx="6459736" cy="2494717"/>
          </a:xfrm>
          <a:prstGeom prst="roundRect">
            <a:avLst>
              <a:gd name="adj" fmla="val 5865"/>
            </a:avLst>
          </a:prstGeom>
          <a:solidFill>
            <a:srgbClr val="000018">
              <a:alpha val="9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417237" y="5049917"/>
            <a:ext cx="6459736" cy="121920"/>
          </a:xfrm>
          <a:prstGeom prst="roundRect">
            <a:avLst>
              <a:gd name="adj" fmla="val 74157"/>
            </a:avLst>
          </a:prstGeom>
          <a:solidFill>
            <a:srgbClr val="5A6ED8"/>
          </a:solidFill>
          <a:ln/>
        </p:spPr>
      </p:sp>
      <p:sp>
        <p:nvSpPr>
          <p:cNvPr id="29" name="Shape 27"/>
          <p:cNvSpPr/>
          <p:nvPr/>
        </p:nvSpPr>
        <p:spPr>
          <a:xfrm>
            <a:off x="10324148" y="4757499"/>
            <a:ext cx="645795" cy="645795"/>
          </a:xfrm>
          <a:prstGeom prst="roundRect">
            <a:avLst>
              <a:gd name="adj" fmla="val 141593"/>
            </a:avLst>
          </a:prstGeom>
          <a:solidFill>
            <a:srgbClr val="5A6ED8"/>
          </a:solidFill>
          <a:ln/>
        </p:spPr>
      </p:sp>
      <p:sp>
        <p:nvSpPr>
          <p:cNvPr id="30" name="Text 28"/>
          <p:cNvSpPr/>
          <p:nvPr/>
        </p:nvSpPr>
        <p:spPr>
          <a:xfrm>
            <a:off x="10517860" y="4888468"/>
            <a:ext cx="258247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4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662982" y="5618559"/>
            <a:ext cx="2690812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Гипотеза 4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7662982" y="6077426"/>
            <a:ext cx="5968246" cy="335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Готовность отказаться от текущих решений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7662982" y="6535579"/>
            <a:ext cx="5968246" cy="335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Метод: интервью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7662982" y="6993731"/>
            <a:ext cx="5968246" cy="335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Критерий: 40% готовы перейти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6430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Итог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351484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5A6ED8"/>
          </a:solidFill>
          <a:ln/>
        </p:spPr>
      </p:sp>
      <p:sp>
        <p:nvSpPr>
          <p:cNvPr id="4" name="Text 2"/>
          <p:cNvSpPr/>
          <p:nvPr/>
        </p:nvSpPr>
        <p:spPr>
          <a:xfrm>
            <a:off x="1133951" y="2226707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Проблема — реальная и массовая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3168015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5A6ED8"/>
          </a:solidFill>
          <a:ln/>
        </p:spPr>
      </p:sp>
      <p:sp>
        <p:nvSpPr>
          <p:cNvPr id="6" name="Text 4"/>
          <p:cNvSpPr/>
          <p:nvPr/>
        </p:nvSpPr>
        <p:spPr>
          <a:xfrm>
            <a:off x="1133951" y="3043237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Решения — разрозненные и неудобные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93790" y="3984546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5A6ED8"/>
          </a:solidFill>
          <a:ln/>
        </p:spPr>
      </p:sp>
      <p:sp>
        <p:nvSpPr>
          <p:cNvPr id="8" name="Text 6"/>
          <p:cNvSpPr/>
          <p:nvPr/>
        </p:nvSpPr>
        <p:spPr>
          <a:xfrm>
            <a:off x="1133951" y="3859768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Есть окно для простого продукта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801076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5A6ED8"/>
          </a:solidFill>
          <a:ln/>
        </p:spPr>
      </p:sp>
      <p:sp>
        <p:nvSpPr>
          <p:cNvPr id="10" name="Text 8"/>
          <p:cNvSpPr/>
          <p:nvPr/>
        </p:nvSpPr>
        <p:spPr>
          <a:xfrm>
            <a:off x="1133951" y="4676299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MVP можно сделать быстро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5617607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5A6ED8"/>
          </a:solidFill>
          <a:ln/>
        </p:spPr>
      </p:sp>
      <p:sp>
        <p:nvSpPr>
          <p:cNvPr id="12" name="Text 10"/>
          <p:cNvSpPr/>
          <p:nvPr/>
        </p:nvSpPr>
        <p:spPr>
          <a:xfrm>
            <a:off x="1133951" y="5492829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Монетизация понятная и масштабируемая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6110883"/>
            <a:ext cx="13042821" cy="1054418"/>
          </a:xfrm>
          <a:prstGeom prst="roundRect">
            <a:avLst>
              <a:gd name="adj" fmla="val 9035"/>
            </a:avLst>
          </a:prstGeom>
          <a:solidFill>
            <a:srgbClr val="0F163E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6466284"/>
            <a:ext cx="354330" cy="28348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601748" y="6394371"/>
            <a:ext cx="12008048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👉</a:t>
            </a:r>
            <a:r>
              <a:rPr lang="en-US" sz="2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Потенциал: стать стандартным инструментом для арендодателей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654</Words>
  <Application>Microsoft Office PowerPoint</Application>
  <PresentationFormat>Произвольный</PresentationFormat>
  <Paragraphs>156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Calibri</vt:lpstr>
      <vt:lpstr>Roboto Light</vt:lpstr>
      <vt:lpstr>Roboto</vt:lpstr>
      <vt:lpstr>Arial</vt:lpstr>
      <vt:lpstr>Roboto Medium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Артём</dc:creator>
  <cp:lastModifiedBy>Артём Дмитриев</cp:lastModifiedBy>
  <cp:revision>3</cp:revision>
  <dcterms:created xsi:type="dcterms:W3CDTF">2026-03-17T10:25:07Z</dcterms:created>
  <dcterms:modified xsi:type="dcterms:W3CDTF">2026-03-17T10:46:42Z</dcterms:modified>
</cp:coreProperties>
</file>