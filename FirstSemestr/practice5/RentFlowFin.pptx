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8" r:id="rId7"/>
    <p:sldId id="264" r:id="rId8"/>
    <p:sldId id="263" r:id="rId9"/>
    <p:sldId id="269" r:id="rId10"/>
    <p:sldId id="266" r:id="rId11"/>
    <p:sldId id="267" r:id="rId12"/>
  </p:sldIdLst>
  <p:sldSz cx="20104100" cy="11309350"/>
  <p:notesSz cx="20104100" cy="113093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C7A1"/>
    <a:srgbClr val="5C613A"/>
    <a:srgbClr val="E3E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462" y="5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SAM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Объем рынка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1217666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5E-4313-A281-98AAA5FC9DB6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TAM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Объем рынка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4870664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5E-4313-A281-98AAA5FC9D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60009856"/>
        <c:axId val="1659993536"/>
      </c:barChart>
      <c:catAx>
        <c:axId val="1660009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59993536"/>
        <c:crosses val="autoZero"/>
        <c:auto val="1"/>
        <c:lblAlgn val="ctr"/>
        <c:lblOffset val="100"/>
        <c:noMultiLvlLbl val="0"/>
      </c:catAx>
      <c:valAx>
        <c:axId val="16599935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60009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708456930219407E-2"/>
          <c:y val="0.15876293375146325"/>
          <c:w val="0.92353262831565741"/>
          <c:h val="0.6445688606578113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SOM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Объем рынка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12177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BE-4549-B1A5-4328875382D4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SAM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Объем рынка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1217666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BE-4549-B1A5-4328875382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60009856"/>
        <c:axId val="1659993536"/>
      </c:barChart>
      <c:catAx>
        <c:axId val="16600098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59993536"/>
        <c:crosses val="autoZero"/>
        <c:auto val="1"/>
        <c:lblAlgn val="ctr"/>
        <c:lblOffset val="100"/>
        <c:noMultiLvlLbl val="0"/>
      </c:catAx>
      <c:valAx>
        <c:axId val="16599935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60009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20EEA-6CAA-4CDB-ACF7-12B35544709F}" type="datetimeFigureOut">
              <a:rPr lang="ru-RU" smtClean="0"/>
              <a:t>23.03.2026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AD979-8B1D-48E8-9D5D-F6F98DE4F9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436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AD979-8B1D-48E8-9D5D-F6F98DE4F9F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086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248879" y="4446924"/>
            <a:ext cx="7606341" cy="978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rgbClr val="040505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rgbClr val="040505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20104100" cy="11308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0052044" y="2569419"/>
            <a:ext cx="0" cy="6170295"/>
          </a:xfrm>
          <a:custGeom>
            <a:avLst/>
            <a:gdLst/>
            <a:ahLst/>
            <a:cxnLst/>
            <a:rect l="l" t="t" r="r" b="b"/>
            <a:pathLst>
              <a:path h="6170295">
                <a:moveTo>
                  <a:pt x="0" y="0"/>
                </a:moveTo>
                <a:lnTo>
                  <a:pt x="0" y="6169717"/>
                </a:lnTo>
              </a:path>
            </a:pathLst>
          </a:custGeom>
          <a:ln w="2560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rgbClr val="040505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70479"/>
            <a:ext cx="20104099" cy="4248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5052013" y="0"/>
            <a:ext cx="5052695" cy="6193155"/>
          </a:xfrm>
          <a:custGeom>
            <a:avLst/>
            <a:gdLst/>
            <a:ahLst/>
            <a:cxnLst/>
            <a:rect l="l" t="t" r="r" b="b"/>
            <a:pathLst>
              <a:path w="5052694" h="6193155">
                <a:moveTo>
                  <a:pt x="0" y="6192638"/>
                </a:moveTo>
                <a:lnTo>
                  <a:pt x="5052087" y="6192638"/>
                </a:lnTo>
                <a:lnTo>
                  <a:pt x="5052087" y="0"/>
                </a:lnTo>
                <a:lnTo>
                  <a:pt x="0" y="0"/>
                </a:lnTo>
                <a:lnTo>
                  <a:pt x="0" y="6192638"/>
                </a:lnTo>
                <a:close/>
              </a:path>
            </a:pathLst>
          </a:custGeom>
          <a:solidFill>
            <a:srgbClr val="5C61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5052013" y="10777515"/>
            <a:ext cx="5052695" cy="531495"/>
          </a:xfrm>
          <a:custGeom>
            <a:avLst/>
            <a:gdLst/>
            <a:ahLst/>
            <a:cxnLst/>
            <a:rect l="l" t="t" r="r" b="b"/>
            <a:pathLst>
              <a:path w="5052694" h="531495">
                <a:moveTo>
                  <a:pt x="0" y="531041"/>
                </a:moveTo>
                <a:lnTo>
                  <a:pt x="5052087" y="531041"/>
                </a:lnTo>
                <a:lnTo>
                  <a:pt x="5052087" y="0"/>
                </a:lnTo>
                <a:lnTo>
                  <a:pt x="0" y="0"/>
                </a:lnTo>
                <a:lnTo>
                  <a:pt x="0" y="531041"/>
                </a:lnTo>
                <a:close/>
              </a:path>
            </a:pathLst>
          </a:custGeom>
          <a:solidFill>
            <a:srgbClr val="5C61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6192638"/>
            <a:ext cx="20097750" cy="4585335"/>
          </a:xfrm>
          <a:custGeom>
            <a:avLst/>
            <a:gdLst/>
            <a:ahLst/>
            <a:cxnLst/>
            <a:rect l="l" t="t" r="r" b="b"/>
            <a:pathLst>
              <a:path w="20097750" h="4585334">
                <a:moveTo>
                  <a:pt x="0" y="4584876"/>
                </a:moveTo>
                <a:lnTo>
                  <a:pt x="20097168" y="4584876"/>
                </a:lnTo>
                <a:lnTo>
                  <a:pt x="20097168" y="0"/>
                </a:lnTo>
                <a:lnTo>
                  <a:pt x="0" y="0"/>
                </a:lnTo>
                <a:lnTo>
                  <a:pt x="0" y="4584876"/>
                </a:lnTo>
                <a:close/>
              </a:path>
            </a:pathLst>
          </a:custGeom>
          <a:solidFill>
            <a:srgbClr val="D8D9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7789074" y="859803"/>
            <a:ext cx="11818327" cy="94496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876842" y="5724757"/>
            <a:ext cx="8800465" cy="3774440"/>
          </a:xfrm>
          <a:custGeom>
            <a:avLst/>
            <a:gdLst/>
            <a:ahLst/>
            <a:cxnLst/>
            <a:rect l="l" t="t" r="r" b="b"/>
            <a:pathLst>
              <a:path w="8800465" h="3774440">
                <a:moveTo>
                  <a:pt x="8800349" y="3774356"/>
                </a:moveTo>
                <a:lnTo>
                  <a:pt x="0" y="3774356"/>
                </a:lnTo>
                <a:lnTo>
                  <a:pt x="0" y="0"/>
                </a:lnTo>
                <a:lnTo>
                  <a:pt x="8800349" y="0"/>
                </a:lnTo>
                <a:lnTo>
                  <a:pt x="8800349" y="3774356"/>
                </a:lnTo>
                <a:close/>
              </a:path>
            </a:pathLst>
          </a:custGeom>
          <a:solidFill>
            <a:srgbClr val="5C61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69512" y="2377832"/>
            <a:ext cx="15565075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040505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7896" y="6130906"/>
            <a:ext cx="7650480" cy="1276632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12700" marR="5080">
              <a:lnSpc>
                <a:spcPts val="8740"/>
              </a:lnSpc>
              <a:spcBef>
                <a:spcPts val="1255"/>
              </a:spcBef>
            </a:pPr>
            <a:r>
              <a:rPr lang="en-US" sz="8150" spc="5" dirty="0" err="1">
                <a:solidFill>
                  <a:srgbClr val="FFFFFF"/>
                </a:solidFill>
                <a:latin typeface="Playfair Display"/>
                <a:cs typeface="Playfair Display"/>
              </a:rPr>
              <a:t>RentFlow</a:t>
            </a:r>
            <a:endParaRPr lang="en-US" sz="8150" spc="5" dirty="0">
              <a:solidFill>
                <a:srgbClr val="FFFFFF"/>
              </a:solidFill>
              <a:latin typeface="Playfair Display"/>
              <a:cs typeface="Playfair Display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9450" y="1873756"/>
            <a:ext cx="1155700" cy="748665"/>
          </a:xfrm>
          <a:custGeom>
            <a:avLst/>
            <a:gdLst/>
            <a:ahLst/>
            <a:cxnLst/>
            <a:rect l="l" t="t" r="r" b="b"/>
            <a:pathLst>
              <a:path w="1155700" h="748664">
                <a:moveTo>
                  <a:pt x="786268" y="138952"/>
                </a:moveTo>
                <a:lnTo>
                  <a:pt x="570391" y="138952"/>
                </a:lnTo>
                <a:lnTo>
                  <a:pt x="590222" y="165056"/>
                </a:lnTo>
                <a:lnTo>
                  <a:pt x="0" y="748095"/>
                </a:lnTo>
                <a:lnTo>
                  <a:pt x="256260" y="748150"/>
                </a:lnTo>
                <a:lnTo>
                  <a:pt x="752856" y="747258"/>
                </a:lnTo>
                <a:lnTo>
                  <a:pt x="792751" y="735796"/>
                </a:lnTo>
                <a:lnTo>
                  <a:pt x="918611" y="618498"/>
                </a:lnTo>
                <a:lnTo>
                  <a:pt x="547369" y="618498"/>
                </a:lnTo>
                <a:lnTo>
                  <a:pt x="330607" y="617272"/>
                </a:lnTo>
                <a:lnTo>
                  <a:pt x="316712" y="590802"/>
                </a:lnTo>
                <a:lnTo>
                  <a:pt x="786268" y="138952"/>
                </a:lnTo>
                <a:close/>
              </a:path>
              <a:path w="1155700" h="748664">
                <a:moveTo>
                  <a:pt x="1088273" y="320433"/>
                </a:moveTo>
                <a:lnTo>
                  <a:pt x="915448" y="320433"/>
                </a:lnTo>
                <a:lnTo>
                  <a:pt x="971206" y="383531"/>
                </a:lnTo>
                <a:lnTo>
                  <a:pt x="830230" y="515974"/>
                </a:lnTo>
                <a:lnTo>
                  <a:pt x="795755" y="547609"/>
                </a:lnTo>
                <a:lnTo>
                  <a:pt x="753725" y="589471"/>
                </a:lnTo>
                <a:lnTo>
                  <a:pt x="731909" y="606445"/>
                </a:lnTo>
                <a:lnTo>
                  <a:pt x="709622" y="614110"/>
                </a:lnTo>
                <a:lnTo>
                  <a:pt x="655601" y="616642"/>
                </a:lnTo>
                <a:lnTo>
                  <a:pt x="601511" y="618011"/>
                </a:lnTo>
                <a:lnTo>
                  <a:pt x="547369" y="618498"/>
                </a:lnTo>
                <a:lnTo>
                  <a:pt x="918611" y="618498"/>
                </a:lnTo>
                <a:lnTo>
                  <a:pt x="1155493" y="390923"/>
                </a:lnTo>
                <a:lnTo>
                  <a:pt x="1088273" y="320433"/>
                </a:lnTo>
                <a:close/>
              </a:path>
              <a:path w="1155700" h="748664">
                <a:moveTo>
                  <a:pt x="927730" y="152082"/>
                </a:moveTo>
                <a:lnTo>
                  <a:pt x="545281" y="524249"/>
                </a:lnTo>
                <a:lnTo>
                  <a:pt x="593673" y="536305"/>
                </a:lnTo>
                <a:lnTo>
                  <a:pt x="636359" y="536958"/>
                </a:lnTo>
                <a:lnTo>
                  <a:pt x="674258" y="527969"/>
                </a:lnTo>
                <a:lnTo>
                  <a:pt x="739373" y="488118"/>
                </a:lnTo>
                <a:lnTo>
                  <a:pt x="768428" y="460779"/>
                </a:lnTo>
                <a:lnTo>
                  <a:pt x="796374" y="430847"/>
                </a:lnTo>
                <a:lnTo>
                  <a:pt x="824129" y="400084"/>
                </a:lnTo>
                <a:lnTo>
                  <a:pt x="852614" y="370253"/>
                </a:lnTo>
                <a:lnTo>
                  <a:pt x="882747" y="343115"/>
                </a:lnTo>
                <a:lnTo>
                  <a:pt x="915448" y="320433"/>
                </a:lnTo>
                <a:lnTo>
                  <a:pt x="1088273" y="320433"/>
                </a:lnTo>
                <a:lnTo>
                  <a:pt x="927730" y="152082"/>
                </a:lnTo>
                <a:close/>
              </a:path>
              <a:path w="1155700" h="748664">
                <a:moveTo>
                  <a:pt x="420410" y="0"/>
                </a:moveTo>
                <a:lnTo>
                  <a:pt x="76814" y="1071"/>
                </a:lnTo>
                <a:lnTo>
                  <a:pt x="59891" y="1965"/>
                </a:lnTo>
                <a:lnTo>
                  <a:pt x="43659" y="4017"/>
                </a:lnTo>
                <a:lnTo>
                  <a:pt x="16009" y="8369"/>
                </a:lnTo>
                <a:lnTo>
                  <a:pt x="287530" y="288193"/>
                </a:lnTo>
                <a:lnTo>
                  <a:pt x="385590" y="227211"/>
                </a:lnTo>
                <a:lnTo>
                  <a:pt x="314869" y="138952"/>
                </a:lnTo>
                <a:lnTo>
                  <a:pt x="786268" y="138952"/>
                </a:lnTo>
                <a:lnTo>
                  <a:pt x="875983" y="52619"/>
                </a:lnTo>
                <a:lnTo>
                  <a:pt x="825777" y="34867"/>
                </a:lnTo>
                <a:lnTo>
                  <a:pt x="784133" y="18993"/>
                </a:lnTo>
                <a:lnTo>
                  <a:pt x="748135" y="7425"/>
                </a:lnTo>
                <a:lnTo>
                  <a:pt x="714868" y="2589"/>
                </a:lnTo>
                <a:lnTo>
                  <a:pt x="4204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185650" y="9159875"/>
            <a:ext cx="6781800" cy="7630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0"/>
              </a:spcBef>
            </a:pPr>
            <a:r>
              <a:rPr lang="ru-RU" sz="2400" b="1" spc="-235" dirty="0">
                <a:solidFill>
                  <a:srgbClr val="FFFFFF"/>
                </a:solidFill>
                <a:latin typeface="Century Gothic" panose="020B0502020202020204" pitchFamily="34" charset="0"/>
                <a:cs typeface="Lucida Sans"/>
              </a:rPr>
              <a:t>ЭФБО-01-23, группа №8</a:t>
            </a:r>
          </a:p>
          <a:p>
            <a:pPr marL="12700" algn="r">
              <a:lnSpc>
                <a:spcPct val="100000"/>
              </a:lnSpc>
              <a:spcBef>
                <a:spcPts val="90"/>
              </a:spcBef>
            </a:pPr>
            <a:r>
              <a:rPr lang="ru-RU" sz="2400" b="1" spc="-235" dirty="0">
                <a:solidFill>
                  <a:srgbClr val="FFFFFF"/>
                </a:solidFill>
                <a:latin typeface="Century Gothic" panose="020B0502020202020204" pitchFamily="34" charset="0"/>
                <a:cs typeface="Lucida Sans"/>
              </a:rPr>
              <a:t>Бурков О.А., Долгова С.С., Дмитриев А.В., Дубов Н.С.</a:t>
            </a:r>
            <a:endParaRPr sz="2400" dirty="0">
              <a:latin typeface="Lucida Sans"/>
              <a:cs typeface="Lucida San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4055" y="8853997"/>
            <a:ext cx="17312640" cy="0"/>
          </a:xfrm>
          <a:custGeom>
            <a:avLst/>
            <a:gdLst/>
            <a:ahLst/>
            <a:cxnLst/>
            <a:rect l="l" t="t" r="r" b="b"/>
            <a:pathLst>
              <a:path w="17312640">
                <a:moveTo>
                  <a:pt x="0" y="0"/>
                </a:moveTo>
                <a:lnTo>
                  <a:pt x="17312467" y="0"/>
                </a:lnTo>
              </a:path>
            </a:pathLst>
          </a:custGeom>
          <a:ln w="4277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6CAEC4E9-27CC-D3DA-146B-765755ABE0E2}"/>
              </a:ext>
            </a:extLst>
          </p:cNvPr>
          <p:cNvSpPr txBox="1"/>
          <p:nvPr/>
        </p:nvSpPr>
        <p:spPr>
          <a:xfrm>
            <a:off x="1604055" y="7524832"/>
            <a:ext cx="7594321" cy="1211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ru-RU" sz="3900" b="1" spc="-235" dirty="0">
                <a:solidFill>
                  <a:srgbClr val="FFFFFF"/>
                </a:solidFill>
                <a:latin typeface="Century Gothic" panose="020B0502020202020204" pitchFamily="34" charset="0"/>
                <a:cs typeface="Lucida Sans"/>
              </a:rPr>
              <a:t>Сервис для управления недвижимостью</a:t>
            </a:r>
            <a:endParaRPr sz="3900" dirty="0">
              <a:latin typeface="Lucida Sans"/>
              <a:cs typeface="Lucida Sans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EF767BC-4416-577B-8859-0CF7FE3020BD}"/>
              </a:ext>
            </a:extLst>
          </p:cNvPr>
          <p:cNvSpPr txBox="1"/>
          <p:nvPr/>
        </p:nvSpPr>
        <p:spPr>
          <a:xfrm>
            <a:off x="2127250" y="1342070"/>
            <a:ext cx="5181600" cy="1812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ru-RU" sz="3900" b="1" spc="-235" dirty="0">
                <a:solidFill>
                  <a:srgbClr val="FFFFFF"/>
                </a:solidFill>
                <a:latin typeface="Century Gothic" panose="020B0502020202020204" pitchFamily="34" charset="0"/>
                <a:cs typeface="Lucida Sans"/>
              </a:rPr>
              <a:t>Стартап в информационных технологиях</a:t>
            </a:r>
            <a:endParaRPr sz="3900" dirty="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53604"/>
            <a:ext cx="20104100" cy="6113780"/>
          </a:xfrm>
          <a:custGeom>
            <a:avLst/>
            <a:gdLst/>
            <a:ahLst/>
            <a:cxnLst/>
            <a:rect l="l" t="t" r="r" b="b"/>
            <a:pathLst>
              <a:path w="20104100" h="6113780">
                <a:moveTo>
                  <a:pt x="0" y="6113258"/>
                </a:moveTo>
                <a:lnTo>
                  <a:pt x="20104099" y="6113258"/>
                </a:lnTo>
                <a:lnTo>
                  <a:pt x="20104099" y="0"/>
                </a:lnTo>
                <a:lnTo>
                  <a:pt x="0" y="0"/>
                </a:lnTo>
                <a:lnTo>
                  <a:pt x="0" y="6113258"/>
                </a:lnTo>
                <a:close/>
              </a:path>
            </a:pathLst>
          </a:custGeom>
          <a:solidFill>
            <a:srgbClr val="F0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8066" y="1962205"/>
            <a:ext cx="4681220" cy="978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6250" b="1" spc="5" dirty="0">
                <a:solidFill>
                  <a:srgbClr val="4A5626"/>
                </a:solidFill>
                <a:latin typeface="Playfair Display SemiBold"/>
                <a:cs typeface="Playfair Display SemiBold"/>
              </a:rPr>
              <a:t>Проблема</a:t>
            </a:r>
            <a:endParaRPr sz="6250" dirty="0">
              <a:latin typeface="Playfair Display SemiBold"/>
              <a:cs typeface="Playfair Display SemiBol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2850" y="3230795"/>
            <a:ext cx="7848599" cy="24087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0"/>
              </a:spcBef>
            </a:pPr>
            <a:r>
              <a:rPr lang="ru-RU" sz="2600" b="1" spc="5" dirty="0">
                <a:solidFill>
                  <a:srgbClr val="434537"/>
                </a:solidFill>
                <a:latin typeface="Century Gothic" panose="020B0502020202020204" pitchFamily="34" charset="0"/>
                <a:cs typeface="Poppins" panose="00000500000000000000" pitchFamily="2" charset="0"/>
              </a:rPr>
              <a:t>Арендный бизнес тонет в рутине: разрозненные сервисы для поиска арендаторов, приема платежей и обслуживания жилья вынуждают тратить часы на «ручное» управление вместо стратегического развития</a:t>
            </a:r>
            <a:endParaRPr sz="2600" dirty="0">
              <a:latin typeface="Century Gothic" panose="020B0502020202020204" pitchFamily="34" charset="0"/>
              <a:cs typeface="Poppins" panose="00000500000000000000" pitchFamily="2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1450" y="6934326"/>
            <a:ext cx="6675663" cy="22833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lang="ru-RU" sz="2400" b="1" spc="10" dirty="0">
                <a:solidFill>
                  <a:srgbClr val="040505"/>
                </a:solidFill>
                <a:latin typeface="Century Gothic" panose="020B0502020202020204" pitchFamily="34" charset="0"/>
                <a:cs typeface="Poppins" panose="00000500000000000000" pitchFamily="2" charset="0"/>
              </a:rPr>
              <a:t>Что конкретно не устраивает:</a:t>
            </a:r>
          </a:p>
          <a:p>
            <a:pPr marL="355600" indent="-342900" algn="just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latin typeface="Century Gothic" panose="020B0502020202020204" pitchFamily="34" charset="0"/>
                <a:cs typeface="Poppins" panose="00000500000000000000" pitchFamily="2" charset="0"/>
              </a:rPr>
              <a:t>Фрагментированность каналов поиска.</a:t>
            </a:r>
          </a:p>
          <a:p>
            <a:pPr marL="355600" indent="-342900" algn="just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latin typeface="Century Gothic" panose="020B0502020202020204" pitchFamily="34" charset="0"/>
                <a:cs typeface="Poppins" panose="00000500000000000000" pitchFamily="2" charset="0"/>
              </a:rPr>
              <a:t>Ручной учет финансов.</a:t>
            </a:r>
          </a:p>
          <a:p>
            <a:pPr marL="355600" indent="-342900" algn="just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latin typeface="Century Gothic" panose="020B0502020202020204" pitchFamily="34" charset="0"/>
                <a:cs typeface="Poppins" panose="00000500000000000000" pitchFamily="2" charset="0"/>
              </a:rPr>
              <a:t>Сложность координации обслуживания.</a:t>
            </a:r>
          </a:p>
          <a:p>
            <a:pPr marL="355600" indent="-342900" algn="just">
              <a:lnSpc>
                <a:spcPct val="100000"/>
              </a:lnSpc>
              <a:spcBef>
                <a:spcPts val="125"/>
              </a:spcBef>
              <a:buFont typeface="Arial" panose="020B0604020202020204" pitchFamily="34" charset="0"/>
              <a:buChar char="•"/>
            </a:pPr>
            <a:r>
              <a:rPr lang="ru-RU" sz="2400" dirty="0">
                <a:latin typeface="Century Gothic" panose="020B0502020202020204" pitchFamily="34" charset="0"/>
                <a:cs typeface="Poppins" panose="00000500000000000000" pitchFamily="2" charset="0"/>
              </a:rPr>
              <a:t>Отсутствие единого информационного пространства.</a:t>
            </a:r>
            <a:endParaRPr sz="2400" dirty="0">
              <a:latin typeface="Century Gothic" panose="020B0502020202020204" pitchFamily="34" charset="0"/>
              <a:cs typeface="Poppins" panose="00000500000000000000" pitchFamily="2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807338" y="2242874"/>
            <a:ext cx="5379720" cy="7634605"/>
          </a:xfrm>
          <a:custGeom>
            <a:avLst/>
            <a:gdLst/>
            <a:ahLst/>
            <a:cxnLst/>
            <a:rect l="l" t="t" r="r" b="b"/>
            <a:pathLst>
              <a:path w="5379719" h="7634605">
                <a:moveTo>
                  <a:pt x="5379197" y="7634563"/>
                </a:moveTo>
                <a:lnTo>
                  <a:pt x="0" y="7634563"/>
                </a:lnTo>
                <a:lnTo>
                  <a:pt x="0" y="0"/>
                </a:lnTo>
                <a:lnTo>
                  <a:pt x="5379197" y="0"/>
                </a:lnTo>
                <a:lnTo>
                  <a:pt x="5379197" y="7634563"/>
                </a:lnTo>
                <a:close/>
              </a:path>
            </a:pathLst>
          </a:custGeom>
          <a:solidFill>
            <a:srgbClr val="5C61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262529" y="1687174"/>
            <a:ext cx="9089617" cy="7740067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1" cy="11308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348963" y="2575566"/>
            <a:ext cx="3599815" cy="10817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ru-RU" sz="2350" b="1" spc="10" dirty="0">
                <a:solidFill>
                  <a:srgbClr val="FFFFFF"/>
                </a:solidFill>
              </a:rPr>
              <a:t>Целевая аудитория</a:t>
            </a:r>
            <a:endParaRPr sz="235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lang="ru-RU" sz="1750" spc="10" dirty="0">
                <a:solidFill>
                  <a:srgbClr val="FFFFFF"/>
                </a:solidFill>
              </a:rPr>
              <a:t>Кто эти люди? Кому это нужно?</a:t>
            </a:r>
            <a:endParaRPr sz="1750" dirty="0"/>
          </a:p>
        </p:txBody>
      </p:sp>
      <p:sp>
        <p:nvSpPr>
          <p:cNvPr id="4" name="object 4"/>
          <p:cNvSpPr txBox="1"/>
          <p:nvPr/>
        </p:nvSpPr>
        <p:spPr>
          <a:xfrm>
            <a:off x="11348911" y="3929056"/>
            <a:ext cx="4804410" cy="21761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ru-RU" sz="2350" b="1" spc="5" dirty="0">
                <a:solidFill>
                  <a:srgbClr val="FFFFFF"/>
                </a:solidFill>
                <a:latin typeface="Century Gothic"/>
                <a:cs typeface="Century Gothic"/>
              </a:rPr>
              <a:t>Конкуренты</a:t>
            </a:r>
            <a:endParaRPr sz="175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lang="ru-RU" sz="1750" spc="10" dirty="0">
                <a:solidFill>
                  <a:srgbClr val="FFFFFF"/>
                </a:solidFill>
                <a:latin typeface="Century Gothic"/>
                <a:cs typeface="Century Gothic"/>
              </a:rPr>
              <a:t>Кто может с нами посоперничать?</a:t>
            </a:r>
            <a:endParaRPr sz="175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22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lang="ru-RU" sz="2350" b="1" spc="10" dirty="0">
                <a:solidFill>
                  <a:srgbClr val="FFFFFF"/>
                </a:solidFill>
                <a:latin typeface="Century Gothic"/>
                <a:cs typeface="Century Gothic"/>
              </a:rPr>
              <a:t>Размер рынка</a:t>
            </a:r>
            <a:endParaRPr sz="235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lang="ru-RU" sz="1750" spc="10" dirty="0">
                <a:solidFill>
                  <a:srgbClr val="FFFFFF"/>
                </a:solidFill>
                <a:latin typeface="Century Gothic"/>
                <a:cs typeface="Century Gothic"/>
              </a:rPr>
              <a:t>Есть ли вообще смысл это делать?</a:t>
            </a:r>
            <a:endParaRPr sz="1750" dirty="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48963" y="6636031"/>
            <a:ext cx="4804353" cy="81240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ru-RU" sz="2350" b="1" spc="5" dirty="0">
                <a:solidFill>
                  <a:srgbClr val="FFFFFF"/>
                </a:solidFill>
                <a:latin typeface="Century Gothic"/>
                <a:cs typeface="Century Gothic"/>
              </a:rPr>
              <a:t>Наше решение</a:t>
            </a:r>
            <a:endParaRPr sz="235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lang="ru-RU" sz="1750" spc="10" dirty="0">
                <a:solidFill>
                  <a:srgbClr val="FFFFFF"/>
                </a:solidFill>
                <a:latin typeface="Century Gothic"/>
                <a:cs typeface="Century Gothic"/>
              </a:rPr>
              <a:t>Что мы предлагаем?</a:t>
            </a:r>
            <a:endParaRPr sz="175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63989" y="7227758"/>
            <a:ext cx="687070" cy="111760"/>
          </a:xfrm>
          <a:custGeom>
            <a:avLst/>
            <a:gdLst/>
            <a:ahLst/>
            <a:cxnLst/>
            <a:rect l="l" t="t" r="r" b="b"/>
            <a:pathLst>
              <a:path w="687070" h="111759">
                <a:moveTo>
                  <a:pt x="663110" y="0"/>
                </a:moveTo>
                <a:lnTo>
                  <a:pt x="23350" y="0"/>
                </a:lnTo>
                <a:lnTo>
                  <a:pt x="14268" y="4377"/>
                </a:lnTo>
                <a:lnTo>
                  <a:pt x="6845" y="16309"/>
                </a:lnTo>
                <a:lnTo>
                  <a:pt x="1837" y="33991"/>
                </a:lnTo>
                <a:lnTo>
                  <a:pt x="0" y="55621"/>
                </a:lnTo>
                <a:lnTo>
                  <a:pt x="1837" y="77250"/>
                </a:lnTo>
                <a:lnTo>
                  <a:pt x="6845" y="94932"/>
                </a:lnTo>
                <a:lnTo>
                  <a:pt x="14268" y="106864"/>
                </a:lnTo>
                <a:lnTo>
                  <a:pt x="23350" y="111242"/>
                </a:lnTo>
                <a:lnTo>
                  <a:pt x="663110" y="111242"/>
                </a:lnTo>
                <a:lnTo>
                  <a:pt x="672188" y="106864"/>
                </a:lnTo>
                <a:lnTo>
                  <a:pt x="679611" y="94932"/>
                </a:lnTo>
                <a:lnTo>
                  <a:pt x="684621" y="77250"/>
                </a:lnTo>
                <a:lnTo>
                  <a:pt x="686460" y="55621"/>
                </a:lnTo>
                <a:lnTo>
                  <a:pt x="684621" y="33991"/>
                </a:lnTo>
                <a:lnTo>
                  <a:pt x="679611" y="16309"/>
                </a:lnTo>
                <a:lnTo>
                  <a:pt x="672188" y="4377"/>
                </a:lnTo>
                <a:lnTo>
                  <a:pt x="6631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903881" y="2579921"/>
            <a:ext cx="0" cy="6170295"/>
          </a:xfrm>
          <a:custGeom>
            <a:avLst/>
            <a:gdLst/>
            <a:ahLst/>
            <a:cxnLst/>
            <a:rect l="l" t="t" r="r" b="b"/>
            <a:pathLst>
              <a:path h="6170295">
                <a:moveTo>
                  <a:pt x="0" y="0"/>
                </a:moveTo>
                <a:lnTo>
                  <a:pt x="0" y="6169717"/>
                </a:lnTo>
              </a:path>
            </a:pathLst>
          </a:custGeom>
          <a:ln w="2560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ED8C917-F454-42BF-48E6-10C0402A1FD0}"/>
              </a:ext>
            </a:extLst>
          </p:cNvPr>
          <p:cNvSpPr txBox="1">
            <a:spLocks/>
          </p:cNvSpPr>
          <p:nvPr/>
        </p:nvSpPr>
        <p:spPr>
          <a:xfrm>
            <a:off x="4032252" y="3825875"/>
            <a:ext cx="5403970" cy="26443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50" b="0" i="0">
                <a:solidFill>
                  <a:srgbClr val="040505"/>
                </a:solidFill>
                <a:latin typeface="Century Gothic"/>
                <a:ea typeface="+mj-ea"/>
                <a:cs typeface="Century Gothic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ru-RU" sz="8550" b="1" kern="0" spc="5" dirty="0">
                <a:solidFill>
                  <a:schemeClr val="bg1"/>
                </a:solidFill>
                <a:latin typeface="Playfair Display SemiBold"/>
                <a:cs typeface="Playfair Display SemiBold"/>
              </a:rPr>
              <a:t>О чем мы расскажем</a:t>
            </a:r>
            <a:endParaRPr lang="ru-RU" sz="8550" kern="0" dirty="0">
              <a:solidFill>
                <a:schemeClr val="bg1"/>
              </a:solidFill>
              <a:latin typeface="Playfair Display SemiBold"/>
              <a:cs typeface="Playfair Display SemiBold"/>
            </a:endParaRP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2833235C-3EEB-3D1F-A135-F07CB5CF2084}"/>
              </a:ext>
            </a:extLst>
          </p:cNvPr>
          <p:cNvSpPr txBox="1"/>
          <p:nvPr/>
        </p:nvSpPr>
        <p:spPr>
          <a:xfrm>
            <a:off x="11348963" y="7959319"/>
            <a:ext cx="4804353" cy="81240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ru-RU" sz="2350" b="1" spc="5" dirty="0">
                <a:solidFill>
                  <a:srgbClr val="FFFFFF"/>
                </a:solidFill>
                <a:latin typeface="Century Gothic"/>
                <a:cs typeface="Century Gothic"/>
              </a:rPr>
              <a:t>Гипотезы</a:t>
            </a:r>
            <a:endParaRPr sz="235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lang="ru-RU" sz="1750" spc="10" dirty="0">
                <a:solidFill>
                  <a:srgbClr val="FFFFFF"/>
                </a:solidFill>
                <a:latin typeface="Century Gothic"/>
                <a:cs typeface="Century Gothic"/>
              </a:rPr>
              <a:t>К чему мы пришли?</a:t>
            </a:r>
            <a:endParaRPr sz="175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33021" y="0"/>
            <a:ext cx="5171067" cy="11308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7650" y="2919126"/>
            <a:ext cx="7010400" cy="9746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6250" b="1" spc="5" dirty="0">
                <a:solidFill>
                  <a:srgbClr val="4A5626"/>
                </a:solidFill>
                <a:latin typeface="Playfair Display SemiBold"/>
                <a:cs typeface="Playfair Display SemiBold"/>
              </a:rPr>
              <a:t>Целевая аудитория</a:t>
            </a:r>
            <a:endParaRPr sz="6250" dirty="0">
              <a:latin typeface="Playfair Display SemiBold"/>
              <a:cs typeface="Playfair Display SemiBol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0960" y="5334436"/>
            <a:ext cx="7609753" cy="39089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23240">
              <a:lnSpc>
                <a:spcPct val="169000"/>
              </a:lnSpc>
            </a:pPr>
            <a:r>
              <a:rPr lang="ru-RU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Частные арендодатели (с 1–3 объектами):</a:t>
            </a:r>
          </a:p>
          <a:p>
            <a:pPr marL="12700" marR="523240">
              <a:lnSpc>
                <a:spcPct val="169000"/>
              </a:lnSpc>
            </a:pPr>
            <a:r>
              <a:rPr lang="ru-RU" sz="1850" spc="10" dirty="0">
                <a:solidFill>
                  <a:srgbClr val="040505"/>
                </a:solidFill>
                <a:latin typeface="Century Gothic"/>
                <a:cs typeface="Century Gothic"/>
              </a:rPr>
              <a:t>Физические лица, для которых аренда — дополнительный доход, но нет времени и систем для управления.</a:t>
            </a:r>
          </a:p>
          <a:p>
            <a:pPr marL="12700" marR="523240">
              <a:lnSpc>
                <a:spcPct val="169000"/>
              </a:lnSpc>
            </a:pPr>
            <a:endParaRPr lang="ru-RU" sz="1850" spc="10" dirty="0">
              <a:solidFill>
                <a:srgbClr val="040505"/>
              </a:solidFill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lang="ru-RU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Профессиональные рантье (с 4–10+ объектами)</a:t>
            </a:r>
            <a:r>
              <a:rPr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:</a:t>
            </a:r>
            <a:endParaRPr sz="1850" b="1" dirty="0">
              <a:latin typeface="Century Gothic"/>
              <a:cs typeface="Century Gothic"/>
            </a:endParaRPr>
          </a:p>
          <a:p>
            <a:pPr marL="12700" marR="5080">
              <a:lnSpc>
                <a:spcPct val="169000"/>
              </a:lnSpc>
            </a:pPr>
            <a:r>
              <a:rPr lang="ru-RU" sz="1850" spc="10" dirty="0">
                <a:solidFill>
                  <a:srgbClr val="040505"/>
                </a:solidFill>
                <a:latin typeface="Century Gothic"/>
                <a:cs typeface="Century Gothic"/>
              </a:rPr>
              <a:t>Собственники, для которых аренда — основной или значительный источник дохода, остро нуждающиеся в автоматизации рутины.</a:t>
            </a:r>
            <a:endParaRPr sz="1850" dirty="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63420" y="2489411"/>
            <a:ext cx="5379720" cy="7634605"/>
          </a:xfrm>
          <a:custGeom>
            <a:avLst/>
            <a:gdLst/>
            <a:ahLst/>
            <a:cxnLst/>
            <a:rect l="l" t="t" r="r" b="b"/>
            <a:pathLst>
              <a:path w="5379719" h="7634605">
                <a:moveTo>
                  <a:pt x="5379197" y="7634563"/>
                </a:moveTo>
                <a:lnTo>
                  <a:pt x="0" y="7634563"/>
                </a:lnTo>
                <a:lnTo>
                  <a:pt x="0" y="0"/>
                </a:lnTo>
                <a:lnTo>
                  <a:pt x="5379197" y="0"/>
                </a:lnTo>
                <a:lnTo>
                  <a:pt x="5379197" y="7634563"/>
                </a:lnTo>
                <a:close/>
              </a:path>
            </a:pathLst>
          </a:custGeom>
          <a:solidFill>
            <a:srgbClr val="5C61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412861" y="1297018"/>
            <a:ext cx="8888131" cy="8313663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75794" y="1387475"/>
            <a:ext cx="5633720" cy="978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6250" b="1" spc="5" dirty="0">
                <a:solidFill>
                  <a:srgbClr val="4A5626"/>
                </a:solidFill>
                <a:latin typeface="Playfair Display SemiBold"/>
                <a:cs typeface="Playfair Display SemiBold"/>
              </a:rPr>
              <a:t>Конкуренты</a:t>
            </a:r>
            <a:endParaRPr sz="6250" dirty="0">
              <a:latin typeface="Playfair Display SemiBold"/>
              <a:cs typeface="Playfair Display Semi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23650" y="2777774"/>
            <a:ext cx="8305799" cy="734624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Renda</a:t>
            </a:r>
            <a:r>
              <a:rPr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:</a:t>
            </a:r>
            <a:r>
              <a:rPr lang="ru-RU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1850" spc="10" dirty="0">
                <a:solidFill>
                  <a:srgbClr val="040505"/>
                </a:solidFill>
                <a:latin typeface="Century Gothic"/>
                <a:cs typeface="Century Gothic"/>
              </a:rPr>
              <a:t>B2B-платформа для автоматизации коммерческой недвижимости, объединяющая УК, арендаторов и собственников.</a:t>
            </a:r>
            <a:endParaRPr sz="185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23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lang="ru-RU" sz="1850" b="1" spc="10" dirty="0" err="1">
                <a:solidFill>
                  <a:srgbClr val="040505"/>
                </a:solidFill>
                <a:latin typeface="Century Gothic"/>
                <a:cs typeface="Century Gothic"/>
              </a:rPr>
              <a:t>Яндекс.аренда</a:t>
            </a:r>
            <a:r>
              <a:rPr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:</a:t>
            </a:r>
            <a:r>
              <a:rPr lang="ru-RU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 </a:t>
            </a:r>
          </a:p>
          <a:p>
            <a:pPr marL="12700">
              <a:lnSpc>
                <a:spcPct val="100000"/>
              </a:lnSpc>
            </a:pPr>
            <a:r>
              <a:rPr lang="ru-RU" sz="1850" spc="10" dirty="0">
                <a:solidFill>
                  <a:srgbClr val="040505"/>
                </a:solidFill>
                <a:latin typeface="Century Gothic"/>
                <a:cs typeface="Century Gothic"/>
              </a:rPr>
              <a:t>Сквозная автоматизация найма жилья: от поиска арендаторов до гарантированной оплаты и страховки.</a:t>
            </a:r>
            <a:endParaRPr sz="185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23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lang="ru-RU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Пик аренда</a:t>
            </a:r>
            <a:r>
              <a:rPr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:</a:t>
            </a:r>
            <a:r>
              <a:rPr lang="ru-RU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 </a:t>
            </a:r>
          </a:p>
          <a:p>
            <a:pPr marL="12700">
              <a:lnSpc>
                <a:spcPct val="100000"/>
              </a:lnSpc>
            </a:pPr>
            <a:r>
              <a:rPr lang="ru-RU" sz="1850" spc="10" dirty="0">
                <a:solidFill>
                  <a:srgbClr val="040505"/>
                </a:solidFill>
                <a:latin typeface="Century Gothic"/>
                <a:cs typeface="Century Gothic"/>
              </a:rPr>
              <a:t>Профессиональное управление арендой с цифровым документооборотом для объектов застройщика.</a:t>
            </a:r>
            <a:endParaRPr sz="185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endParaRPr lang="ru-RU" sz="1850" spc="10" dirty="0">
              <a:solidFill>
                <a:srgbClr val="040505"/>
              </a:solidFill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lang="en-US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Apple real estate:</a:t>
            </a:r>
            <a:r>
              <a:rPr lang="ru-RU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  </a:t>
            </a: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lang="ru-RU" sz="1850" spc="10" dirty="0">
                <a:solidFill>
                  <a:srgbClr val="040505"/>
                </a:solidFill>
                <a:latin typeface="Century Gothic"/>
                <a:cs typeface="Century Gothic"/>
              </a:rPr>
              <a:t>Полный цикл брокерских услуг для корпоративных и частных клиентов в премиум-сегменте.</a:t>
            </a:r>
            <a:endParaRPr lang="en-US" sz="1850" spc="10" dirty="0">
              <a:solidFill>
                <a:srgbClr val="040505"/>
              </a:solidFill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endParaRPr lang="en-US" sz="1850" spc="10" dirty="0">
              <a:solidFill>
                <a:srgbClr val="040505"/>
              </a:solidFill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lang="en-US" sz="1850" b="1" spc="10" dirty="0" err="1">
                <a:solidFill>
                  <a:srgbClr val="040505"/>
                </a:solidFill>
                <a:latin typeface="Century Gothic"/>
                <a:cs typeface="Century Gothic"/>
              </a:rPr>
              <a:t>Hemlane</a:t>
            </a:r>
            <a:r>
              <a:rPr lang="en-US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:</a:t>
            </a:r>
            <a:endParaRPr lang="ru-RU" sz="1850" b="1" spc="10" dirty="0">
              <a:solidFill>
                <a:srgbClr val="040505"/>
              </a:solidFill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lang="ru-RU" sz="1850" dirty="0">
                <a:latin typeface="Century Gothic"/>
                <a:cs typeface="Century Gothic"/>
              </a:rPr>
              <a:t>Гибридная модель: облачное управление для собственников + локальные подрядчики для обслуживания объектов.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5229212" cy="11308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19617" y="2489411"/>
            <a:ext cx="5379720" cy="7634605"/>
          </a:xfrm>
          <a:custGeom>
            <a:avLst/>
            <a:gdLst/>
            <a:ahLst/>
            <a:cxnLst/>
            <a:rect l="l" t="t" r="r" b="b"/>
            <a:pathLst>
              <a:path w="5379720" h="7634605">
                <a:moveTo>
                  <a:pt x="0" y="7634563"/>
                </a:moveTo>
                <a:lnTo>
                  <a:pt x="5379197" y="7634563"/>
                </a:lnTo>
                <a:lnTo>
                  <a:pt x="5379197" y="0"/>
                </a:lnTo>
                <a:lnTo>
                  <a:pt x="0" y="0"/>
                </a:lnTo>
                <a:lnTo>
                  <a:pt x="0" y="7634563"/>
                </a:lnTo>
                <a:close/>
              </a:path>
            </a:pathLst>
          </a:custGeom>
          <a:solidFill>
            <a:srgbClr val="5C61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61241" y="1297018"/>
            <a:ext cx="9089618" cy="8313663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A6A6661F-2CB9-52B0-FDD2-7CB38C1A5BDA}"/>
              </a:ext>
            </a:extLst>
          </p:cNvPr>
          <p:cNvSpPr/>
          <p:nvPr/>
        </p:nvSpPr>
        <p:spPr>
          <a:xfrm>
            <a:off x="0" y="0"/>
            <a:ext cx="20104100" cy="7546340"/>
          </a:xfrm>
          <a:custGeom>
            <a:avLst/>
            <a:gdLst/>
            <a:ahLst/>
            <a:cxnLst/>
            <a:rect l="l" t="t" r="r" b="b"/>
            <a:pathLst>
              <a:path w="20104100" h="7546340">
                <a:moveTo>
                  <a:pt x="0" y="7546220"/>
                </a:moveTo>
                <a:lnTo>
                  <a:pt x="20104099" y="7546220"/>
                </a:lnTo>
                <a:lnTo>
                  <a:pt x="20104099" y="0"/>
                </a:lnTo>
                <a:lnTo>
                  <a:pt x="0" y="0"/>
                </a:lnTo>
                <a:lnTo>
                  <a:pt x="0" y="7546220"/>
                </a:lnTo>
                <a:close/>
              </a:path>
            </a:pathLst>
          </a:custGeom>
          <a:solidFill>
            <a:srgbClr val="F0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4ADC1FA0-B898-3C40-BF1E-C1DEAC671374}"/>
              </a:ext>
            </a:extLst>
          </p:cNvPr>
          <p:cNvSpPr txBox="1">
            <a:spLocks/>
          </p:cNvSpPr>
          <p:nvPr/>
        </p:nvSpPr>
        <p:spPr>
          <a:xfrm>
            <a:off x="6356349" y="625475"/>
            <a:ext cx="7391401" cy="9746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50" b="0" i="0">
                <a:solidFill>
                  <a:srgbClr val="040505"/>
                </a:solidFill>
                <a:latin typeface="Century Gothic"/>
                <a:ea typeface="+mj-ea"/>
                <a:cs typeface="Century Gothic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ru-RU" sz="6250" b="1" kern="0" spc="5" dirty="0">
                <a:solidFill>
                  <a:srgbClr val="4A5626"/>
                </a:solidFill>
                <a:latin typeface="Playfair Display SemiBold"/>
                <a:cs typeface="Playfair Display SemiBold"/>
              </a:rPr>
              <a:t>Анализ конкурентов</a:t>
            </a:r>
            <a:endParaRPr lang="ru-RU" sz="6250" kern="0" dirty="0">
              <a:latin typeface="Playfair Display SemiBold"/>
              <a:cs typeface="Playfair Display SemiBold"/>
            </a:endParaRPr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A1F027E0-96CF-6F22-5949-CBCAEFAF75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805807"/>
              </p:ext>
            </p:extLst>
          </p:nvPr>
        </p:nvGraphicFramePr>
        <p:xfrm>
          <a:off x="9401175" y="5470525"/>
          <a:ext cx="1300163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300389" imgH="366939" progId="Excel.Sheet.12">
                  <p:embed/>
                </p:oleObj>
              </mc:Choice>
              <mc:Fallback>
                <p:oleObj name="Worksheet" r:id="rId2" imgW="1300389" imgH="36693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01175" y="5470525"/>
                        <a:ext cx="1300163" cy="366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object 2">
            <a:extLst>
              <a:ext uri="{FF2B5EF4-FFF2-40B4-BE49-F238E27FC236}">
                <a16:creationId xmlns:a16="http://schemas.microsoft.com/office/drawing/2014/main" id="{F3946975-EF56-1B86-B1D2-C5E1817C5639}"/>
              </a:ext>
            </a:extLst>
          </p:cNvPr>
          <p:cNvSpPr/>
          <p:nvPr/>
        </p:nvSpPr>
        <p:spPr>
          <a:xfrm>
            <a:off x="755650" y="2522488"/>
            <a:ext cx="18875565" cy="66294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2CEEF0E6-449A-0B7C-2E5F-B279CBF69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747343"/>
              </p:ext>
            </p:extLst>
          </p:nvPr>
        </p:nvGraphicFramePr>
        <p:xfrm>
          <a:off x="1631156" y="1814607"/>
          <a:ext cx="16840200" cy="8045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386704384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55999544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905820023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664417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84894201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924433858"/>
                    </a:ext>
                  </a:extLst>
                </a:gridCol>
              </a:tblGrid>
              <a:tr h="579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2000" b="1" u="none" strike="noStrike" dirty="0">
                          <a:effectLst/>
                          <a:latin typeface="Century Gothic" panose="020B0502020202020204" pitchFamily="34" charset="0"/>
                        </a:rPr>
                        <a:t>Критерий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7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Century Gothic" panose="020B0502020202020204" pitchFamily="34" charset="0"/>
                        </a:rPr>
                        <a:t>Renda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7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 err="1">
                          <a:effectLst/>
                          <a:latin typeface="Century Gothic" panose="020B0502020202020204" pitchFamily="34" charset="0"/>
                        </a:rPr>
                        <a:t>Rentec</a:t>
                      </a:r>
                      <a:r>
                        <a:rPr lang="en-US" sz="2000" b="1" u="none" strike="noStrike" dirty="0">
                          <a:effectLst/>
                          <a:latin typeface="Century Gothic" panose="020B0502020202020204" pitchFamily="34" charset="0"/>
                        </a:rPr>
                        <a:t> Direct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7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 err="1">
                          <a:effectLst/>
                          <a:latin typeface="Century Gothic" panose="020B0502020202020204" pitchFamily="34" charset="0"/>
                        </a:rPr>
                        <a:t>Hemlane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7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2000" b="1" u="none" strike="noStrike" dirty="0">
                          <a:effectLst/>
                          <a:latin typeface="Century Gothic" panose="020B0502020202020204" pitchFamily="34" charset="0"/>
                        </a:rPr>
                        <a:t>Яндекс Аренда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7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2000" b="1" u="none" strike="noStrike" dirty="0">
                          <a:effectLst/>
                          <a:latin typeface="Century Gothic" panose="020B0502020202020204" pitchFamily="34" charset="0"/>
                        </a:rPr>
                        <a:t>Пик Аренда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C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974616"/>
                  </a:ext>
                </a:extLst>
              </a:tr>
              <a:tr h="14707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Коммуникация арендатор–арендодатель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b="1" u="none" strike="noStrike" dirty="0">
                          <a:effectLst/>
                          <a:latin typeface="Century Gothic" panose="020B0502020202020204" pitchFamily="34" charset="0"/>
                        </a:rPr>
                        <a:t>Единое окно коммуникаций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Сообщения, </a:t>
                      </a:r>
                      <a:r>
                        <a:rPr lang="ru-RU" sz="2000" u="none" strike="noStrike" dirty="0" err="1">
                          <a:effectLst/>
                          <a:latin typeface="Century Gothic" panose="020B0502020202020204" pitchFamily="34" charset="0"/>
                        </a:rPr>
                        <a:t>email</a:t>
                      </a: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 и SMS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Чат и сообщения через платформу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Отбор кандидата + Общение через платформу  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Отбор кандидата + Общение через платформу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11938"/>
                  </a:ext>
                </a:extLst>
              </a:tr>
              <a:tr h="5794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Заявки на ремонт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Цифровые заявки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Есть система </a:t>
                      </a:r>
                      <a:r>
                        <a:rPr lang="en-US" sz="2000" u="none" strike="noStrike" dirty="0">
                          <a:effectLst/>
                          <a:latin typeface="Century Gothic" panose="020B0502020202020204" pitchFamily="34" charset="0"/>
                        </a:rPr>
                        <a:t>work-orders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b="1" u="none" strike="noStrike" dirty="0">
                          <a:effectLst/>
                          <a:latin typeface="Century Gothic" panose="020B0502020202020204" pitchFamily="34" charset="0"/>
                        </a:rPr>
                        <a:t>Есть система </a:t>
                      </a:r>
                      <a:r>
                        <a:rPr lang="en-US" sz="2000" b="1" u="none" strike="noStrike" dirty="0">
                          <a:effectLst/>
                          <a:latin typeface="Century Gothic" panose="020B0502020202020204" pitchFamily="34" charset="0"/>
                        </a:rPr>
                        <a:t>maintenance requests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Поддержка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Поддержка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697055"/>
                  </a:ext>
                </a:extLst>
              </a:tr>
              <a:tr h="5794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Отслеживание статуса заявки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Да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Да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b="1" u="none" strike="noStrike" dirty="0">
                          <a:effectLst/>
                          <a:latin typeface="Century Gothic" panose="020B0502020202020204" pitchFamily="34" charset="0"/>
                        </a:rPr>
                        <a:t>Да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Да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Да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644185"/>
                  </a:ext>
                </a:extLst>
              </a:tr>
              <a:tr h="5794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Подключение подрядчиков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b="1" u="none" strike="noStrike" dirty="0">
                          <a:effectLst/>
                          <a:latin typeface="Century Gothic" panose="020B0502020202020204" pitchFamily="34" charset="0"/>
                        </a:rPr>
                        <a:t>Система заявок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Назначение подрядчиков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Есть сеть сервис-партнёров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Поддержка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Поддержка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422290"/>
                  </a:ext>
                </a:extLst>
              </a:tr>
              <a:tr h="5794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Онлайн-оплата аренды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Не основной функционал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Есть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Есть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b="1" u="none" strike="noStrike" dirty="0">
                          <a:effectLst/>
                          <a:latin typeface="Century Gothic" panose="020B0502020202020204" pitchFamily="34" charset="0"/>
                        </a:rPr>
                        <a:t>Есть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Есть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8135034"/>
                  </a:ext>
                </a:extLst>
              </a:tr>
              <a:tr h="5794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Хранение договоров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Есть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Есть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Есть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Есть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Есть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889829"/>
                  </a:ext>
                </a:extLst>
              </a:tr>
              <a:tr h="8669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Аналитика и финансы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Есть аналитика по объектам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b="1" u="none" strike="noStrike" dirty="0">
                          <a:effectLst/>
                          <a:latin typeface="Century Gothic" panose="020B0502020202020204" pitchFamily="34" charset="0"/>
                        </a:rPr>
                        <a:t>Есть финансовая отчётность</a:t>
                      </a:r>
                      <a:endParaRPr lang="ru-RU" sz="20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Есть учёт доходов и расходов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Оценка стоимости аренды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Оценка стоимости аренды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366337"/>
                  </a:ext>
                </a:extLst>
              </a:tr>
              <a:tr h="5794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Автоматизация процессов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b="1" u="none" strike="noStrike" dirty="0">
                          <a:effectLst/>
                          <a:latin typeface="Century Gothic" panose="020B0502020202020204" pitchFamily="34" charset="0"/>
                        </a:rPr>
                        <a:t>Есть (интеграции, </a:t>
                      </a:r>
                      <a:r>
                        <a:rPr lang="en-US" sz="2000" b="1" u="none" strike="noStrike" dirty="0">
                          <a:effectLst/>
                          <a:latin typeface="Century Gothic" panose="020B0502020202020204" pitchFamily="34" charset="0"/>
                        </a:rPr>
                        <a:t>SLA)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Есть (уведомления, автоматизация)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Есть автоматизация и сервис поддержки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Частично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Частично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643788"/>
                  </a:ext>
                </a:extLst>
              </a:tr>
              <a:tr h="1441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>
                          <a:effectLst/>
                          <a:latin typeface="Century Gothic" panose="020B0502020202020204" pitchFamily="34" charset="0"/>
                        </a:rPr>
                        <a:t>Дополнительные сервисы</a:t>
                      </a:r>
                      <a:endParaRPr lang="ru-RU" sz="20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Маркетплейс услуг, интеграции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Проверка арендаторов, страховки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Ремонтная служба и поддержка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Финансовая защита, проверка арендатором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2000" u="none" strike="noStrike" dirty="0">
                          <a:effectLst/>
                          <a:latin typeface="Century Gothic" panose="020B0502020202020204" pitchFamily="34" charset="0"/>
                        </a:rPr>
                        <a:t>Подготовка квартиры к сдаче, помощь с заселением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5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711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574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2305" y="539093"/>
            <a:ext cx="18934430" cy="10450830"/>
          </a:xfrm>
          <a:custGeom>
            <a:avLst/>
            <a:gdLst/>
            <a:ahLst/>
            <a:cxnLst/>
            <a:rect l="l" t="t" r="r" b="b"/>
            <a:pathLst>
              <a:path w="18934430" h="10450830">
                <a:moveTo>
                  <a:pt x="18934145" y="10450488"/>
                </a:moveTo>
                <a:lnTo>
                  <a:pt x="0" y="10450488"/>
                </a:lnTo>
                <a:lnTo>
                  <a:pt x="0" y="0"/>
                </a:lnTo>
                <a:lnTo>
                  <a:pt x="18934145" y="0"/>
                </a:lnTo>
                <a:lnTo>
                  <a:pt x="18934145" y="10450488"/>
                </a:lnTo>
                <a:close/>
              </a:path>
            </a:pathLst>
          </a:custGeom>
          <a:solidFill>
            <a:srgbClr val="F0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06324" y="2036034"/>
            <a:ext cx="6076315" cy="978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6250" b="1" spc="5" dirty="0">
                <a:solidFill>
                  <a:srgbClr val="4A5626"/>
                </a:solidFill>
                <a:latin typeface="Playfair Display SemiBold"/>
                <a:cs typeface="Playfair Display SemiBold"/>
              </a:rPr>
              <a:t>Драйверы</a:t>
            </a:r>
            <a:endParaRPr sz="6250" dirty="0">
              <a:latin typeface="Playfair Display SemiBold"/>
              <a:cs typeface="Playfair Display SemiBold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20104" y="4039111"/>
            <a:ext cx="16863917" cy="38092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85352" y="7547648"/>
            <a:ext cx="4505960" cy="3007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10" dirty="0">
                <a:solidFill>
                  <a:srgbClr val="040505"/>
                </a:solidFill>
                <a:latin typeface="Century Gothic"/>
                <a:cs typeface="Century Gothic"/>
              </a:rPr>
              <a:t>.</a:t>
            </a:r>
            <a:endParaRPr sz="185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02388" y="4354498"/>
            <a:ext cx="3787262" cy="2210542"/>
          </a:xfrm>
          <a:prstGeom prst="rect">
            <a:avLst/>
          </a:prstGeom>
        </p:spPr>
        <p:txBody>
          <a:bodyPr vert="horz" wrap="square" lIns="0" tIns="337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lang="ru-RU" sz="3650" b="1" spc="-5" dirty="0">
                <a:solidFill>
                  <a:srgbClr val="FFFFFF"/>
                </a:solidFill>
                <a:latin typeface="Century Gothic"/>
                <a:cs typeface="Century Gothic"/>
              </a:rPr>
              <a:t>Рост рынка аренды</a:t>
            </a:r>
            <a:endParaRPr sz="3650" dirty="0">
              <a:latin typeface="Century Gothic"/>
              <a:cs typeface="Century Gothic"/>
            </a:endParaRPr>
          </a:p>
          <a:p>
            <a:pPr marL="52705" marR="5080">
              <a:lnSpc>
                <a:spcPct val="111400"/>
              </a:lnSpc>
              <a:spcBef>
                <a:spcPts val="1095"/>
              </a:spcBef>
            </a:pPr>
            <a:r>
              <a:rPr lang="ru-RU" sz="1850" spc="10" dirty="0">
                <a:solidFill>
                  <a:srgbClr val="FFFFFF"/>
                </a:solidFill>
                <a:latin typeface="Century Gothic"/>
                <a:cs typeface="Century Gothic"/>
              </a:rPr>
              <a:t>всё больше людей не покупают жильё, а снимают</a:t>
            </a:r>
            <a:endParaRPr sz="185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77008" y="4511510"/>
            <a:ext cx="3787262" cy="245612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lang="ru-RU" sz="3600" b="1" spc="-5" dirty="0">
                <a:solidFill>
                  <a:srgbClr val="FFFFFF"/>
                </a:solidFill>
                <a:latin typeface="Century Gothic"/>
                <a:cs typeface="Century Gothic"/>
              </a:rPr>
              <a:t>Цифровизация бытовых процессов</a:t>
            </a:r>
            <a:endParaRPr sz="3600" dirty="0">
              <a:latin typeface="Century Gothic"/>
              <a:cs typeface="Century Gothic"/>
            </a:endParaRPr>
          </a:p>
          <a:p>
            <a:pPr marL="12700" marR="280035">
              <a:lnSpc>
                <a:spcPct val="111400"/>
              </a:lnSpc>
              <a:spcBef>
                <a:spcPts val="1225"/>
              </a:spcBef>
            </a:pPr>
            <a:r>
              <a:rPr lang="ru-RU" sz="1850" spc="10" dirty="0">
                <a:solidFill>
                  <a:srgbClr val="FFFFFF"/>
                </a:solidFill>
                <a:latin typeface="Century Gothic"/>
                <a:cs typeface="Century Gothic"/>
              </a:rPr>
              <a:t>пользователи готовы решать всё через приложения</a:t>
            </a:r>
            <a:endParaRPr sz="1850" dirty="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51628" y="4490561"/>
            <a:ext cx="3334409" cy="22788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90"/>
              </a:spcBef>
            </a:pPr>
            <a:r>
              <a:rPr lang="ru-RU" sz="3650" b="1" spc="-5" dirty="0">
                <a:solidFill>
                  <a:srgbClr val="FFFFFF"/>
                </a:solidFill>
                <a:latin typeface="Century Gothic"/>
                <a:cs typeface="Century Gothic"/>
              </a:rPr>
              <a:t>Рост числа частных инвесторов</a:t>
            </a:r>
          </a:p>
          <a:p>
            <a:pPr marL="30480">
              <a:lnSpc>
                <a:spcPct val="100000"/>
              </a:lnSpc>
              <a:spcBef>
                <a:spcPts val="90"/>
              </a:spcBef>
            </a:pPr>
            <a:r>
              <a:rPr lang="ru-RU" sz="1850" spc="10" dirty="0">
                <a:solidFill>
                  <a:srgbClr val="FFFFFF"/>
                </a:solidFill>
                <a:latin typeface="Century Gothic"/>
                <a:cs typeface="Century Gothic"/>
              </a:rPr>
              <a:t>больше людей с несколькими объектами</a:t>
            </a:r>
            <a:endParaRPr sz="185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049587" y="4649428"/>
            <a:ext cx="3334409" cy="2001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90"/>
              </a:spcBef>
            </a:pPr>
            <a:r>
              <a:rPr lang="ru-RU" sz="3650" b="1" spc="-5" dirty="0">
                <a:solidFill>
                  <a:srgbClr val="FFFFFF"/>
                </a:solidFill>
                <a:latin typeface="Century Gothic"/>
                <a:cs typeface="Century Gothic"/>
              </a:rPr>
              <a:t>Привычка к экосистемам </a:t>
            </a:r>
            <a:r>
              <a:rPr lang="ru-RU" sz="1850" spc="10" dirty="0">
                <a:solidFill>
                  <a:srgbClr val="FFFFFF"/>
                </a:solidFill>
                <a:latin typeface="Century Gothic"/>
                <a:cs typeface="Century Gothic"/>
              </a:rPr>
              <a:t>ожидание удобных сервисов</a:t>
            </a:r>
          </a:p>
          <a:p>
            <a:pPr marL="30480">
              <a:lnSpc>
                <a:spcPct val="100000"/>
              </a:lnSpc>
              <a:spcBef>
                <a:spcPts val="90"/>
              </a:spcBef>
            </a:pPr>
            <a:endParaRPr sz="185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">
            <a:extLst>
              <a:ext uri="{FF2B5EF4-FFF2-40B4-BE49-F238E27FC236}">
                <a16:creationId xmlns:a16="http://schemas.microsoft.com/office/drawing/2014/main" id="{73DEBE40-5A7B-60C7-34E0-537576C7CC7F}"/>
              </a:ext>
            </a:extLst>
          </p:cNvPr>
          <p:cNvSpPr/>
          <p:nvPr/>
        </p:nvSpPr>
        <p:spPr>
          <a:xfrm>
            <a:off x="908050" y="9236075"/>
            <a:ext cx="18288000" cy="15450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/>
          <p:cNvSpPr/>
          <p:nvPr/>
        </p:nvSpPr>
        <p:spPr>
          <a:xfrm>
            <a:off x="0" y="0"/>
            <a:ext cx="20104100" cy="7546340"/>
          </a:xfrm>
          <a:custGeom>
            <a:avLst/>
            <a:gdLst/>
            <a:ahLst/>
            <a:cxnLst/>
            <a:rect l="l" t="t" r="r" b="b"/>
            <a:pathLst>
              <a:path w="20104100" h="7546340">
                <a:moveTo>
                  <a:pt x="0" y="7546220"/>
                </a:moveTo>
                <a:lnTo>
                  <a:pt x="20104099" y="7546220"/>
                </a:lnTo>
                <a:lnTo>
                  <a:pt x="20104099" y="0"/>
                </a:lnTo>
                <a:lnTo>
                  <a:pt x="0" y="0"/>
                </a:lnTo>
                <a:lnTo>
                  <a:pt x="0" y="7546220"/>
                </a:lnTo>
                <a:close/>
              </a:path>
            </a:pathLst>
          </a:custGeom>
          <a:solidFill>
            <a:srgbClr val="F0EFE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613150" y="419398"/>
            <a:ext cx="12877800" cy="9746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6250" b="1" spc="5" dirty="0">
                <a:solidFill>
                  <a:srgbClr val="4A5626"/>
                </a:solidFill>
                <a:latin typeface="Playfair Display SemiBold"/>
                <a:cs typeface="Playfair Display SemiBold"/>
              </a:rPr>
              <a:t>TAM | SAM | SOM</a:t>
            </a:r>
            <a:endParaRPr sz="6250" dirty="0">
              <a:latin typeface="Playfair Display SemiBold"/>
              <a:cs typeface="Playfair Display SemiBold"/>
            </a:endParaRPr>
          </a:p>
        </p:txBody>
      </p:sp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AEC88094-B42A-B281-468D-503B0DFC5E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4965352"/>
              </p:ext>
            </p:extLst>
          </p:nvPr>
        </p:nvGraphicFramePr>
        <p:xfrm>
          <a:off x="149225" y="2299167"/>
          <a:ext cx="19805650" cy="3498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Диаграмма 18">
            <a:extLst>
              <a:ext uri="{FF2B5EF4-FFF2-40B4-BE49-F238E27FC236}">
                <a16:creationId xmlns:a16="http://schemas.microsoft.com/office/drawing/2014/main" id="{E202E23A-DF84-40F3-88E5-10772434C1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9015587"/>
              </p:ext>
            </p:extLst>
          </p:nvPr>
        </p:nvGraphicFramePr>
        <p:xfrm>
          <a:off x="149225" y="4902300"/>
          <a:ext cx="19805650" cy="3498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object 5">
            <a:extLst>
              <a:ext uri="{FF2B5EF4-FFF2-40B4-BE49-F238E27FC236}">
                <a16:creationId xmlns:a16="http://schemas.microsoft.com/office/drawing/2014/main" id="{4EE0EF92-2A45-AE51-4358-082946726047}"/>
              </a:ext>
            </a:extLst>
          </p:cNvPr>
          <p:cNvSpPr/>
          <p:nvPr/>
        </p:nvSpPr>
        <p:spPr>
          <a:xfrm>
            <a:off x="525960" y="8841978"/>
            <a:ext cx="5538290" cy="1345141"/>
          </a:xfrm>
          <a:custGeom>
            <a:avLst/>
            <a:gdLst/>
            <a:ahLst/>
            <a:cxnLst/>
            <a:rect l="l" t="t" r="r" b="b"/>
            <a:pathLst>
              <a:path w="5379719" h="7634605">
                <a:moveTo>
                  <a:pt x="5379197" y="7634563"/>
                </a:moveTo>
                <a:lnTo>
                  <a:pt x="0" y="7634563"/>
                </a:lnTo>
                <a:lnTo>
                  <a:pt x="0" y="0"/>
                </a:lnTo>
                <a:lnTo>
                  <a:pt x="5379197" y="0"/>
                </a:lnTo>
                <a:lnTo>
                  <a:pt x="5379197" y="7634563"/>
                </a:lnTo>
                <a:close/>
              </a:path>
            </a:pathLst>
          </a:custGeom>
          <a:solidFill>
            <a:srgbClr val="5C61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5">
            <a:extLst>
              <a:ext uri="{FF2B5EF4-FFF2-40B4-BE49-F238E27FC236}">
                <a16:creationId xmlns:a16="http://schemas.microsoft.com/office/drawing/2014/main" id="{CE76342D-E2E0-B7A6-63D1-91C4507F61F3}"/>
              </a:ext>
            </a:extLst>
          </p:cNvPr>
          <p:cNvSpPr/>
          <p:nvPr/>
        </p:nvSpPr>
        <p:spPr>
          <a:xfrm>
            <a:off x="7282905" y="8841978"/>
            <a:ext cx="5538290" cy="1345141"/>
          </a:xfrm>
          <a:custGeom>
            <a:avLst/>
            <a:gdLst/>
            <a:ahLst/>
            <a:cxnLst/>
            <a:rect l="l" t="t" r="r" b="b"/>
            <a:pathLst>
              <a:path w="5379719" h="7634605">
                <a:moveTo>
                  <a:pt x="5379197" y="7634563"/>
                </a:moveTo>
                <a:lnTo>
                  <a:pt x="0" y="7634563"/>
                </a:lnTo>
                <a:lnTo>
                  <a:pt x="0" y="0"/>
                </a:lnTo>
                <a:lnTo>
                  <a:pt x="5379197" y="0"/>
                </a:lnTo>
                <a:lnTo>
                  <a:pt x="5379197" y="7634563"/>
                </a:lnTo>
                <a:close/>
              </a:path>
            </a:pathLst>
          </a:custGeom>
          <a:solidFill>
            <a:srgbClr val="5C61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66DBDEEE-0168-F09C-0594-29FB0CE10F36}"/>
              </a:ext>
            </a:extLst>
          </p:cNvPr>
          <p:cNvSpPr/>
          <p:nvPr/>
        </p:nvSpPr>
        <p:spPr>
          <a:xfrm>
            <a:off x="14062075" y="8841977"/>
            <a:ext cx="5538290" cy="1345141"/>
          </a:xfrm>
          <a:custGeom>
            <a:avLst/>
            <a:gdLst/>
            <a:ahLst/>
            <a:cxnLst/>
            <a:rect l="l" t="t" r="r" b="b"/>
            <a:pathLst>
              <a:path w="5379719" h="7634605">
                <a:moveTo>
                  <a:pt x="5379197" y="7634563"/>
                </a:moveTo>
                <a:lnTo>
                  <a:pt x="0" y="7634563"/>
                </a:lnTo>
                <a:lnTo>
                  <a:pt x="0" y="0"/>
                </a:lnTo>
                <a:lnTo>
                  <a:pt x="5379197" y="0"/>
                </a:lnTo>
                <a:lnTo>
                  <a:pt x="5379197" y="7634563"/>
                </a:lnTo>
                <a:close/>
              </a:path>
            </a:pathLst>
          </a:custGeom>
          <a:solidFill>
            <a:srgbClr val="5C61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AF1766F1-8C11-FD39-1E24-3F534A65B7CA}"/>
              </a:ext>
            </a:extLst>
          </p:cNvPr>
          <p:cNvSpPr txBox="1">
            <a:spLocks/>
          </p:cNvSpPr>
          <p:nvPr/>
        </p:nvSpPr>
        <p:spPr>
          <a:xfrm>
            <a:off x="696659" y="8857851"/>
            <a:ext cx="5403970" cy="1328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50" b="0" i="0">
                <a:solidFill>
                  <a:srgbClr val="040505"/>
                </a:solidFill>
                <a:latin typeface="Century Gothic"/>
                <a:ea typeface="+mj-ea"/>
                <a:cs typeface="Century Gothic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8550" b="1" kern="0" spc="5" dirty="0">
                <a:solidFill>
                  <a:schemeClr val="bg1"/>
                </a:solidFill>
                <a:latin typeface="Playfair Display SemiBold"/>
                <a:cs typeface="Playfair Display SemiBold"/>
              </a:rPr>
              <a:t>4870664</a:t>
            </a:r>
            <a:r>
              <a:rPr lang="ru-RU" sz="8550" b="1" kern="0" spc="5" dirty="0">
                <a:solidFill>
                  <a:schemeClr val="bg1"/>
                </a:solidFill>
                <a:latin typeface="Playfair Display SemiBold"/>
                <a:cs typeface="Playfair Display SemiBold"/>
              </a:rPr>
              <a:t> кв</a:t>
            </a:r>
            <a:endParaRPr lang="ru-RU" sz="8550" kern="0" dirty="0">
              <a:solidFill>
                <a:schemeClr val="bg1"/>
              </a:solidFill>
              <a:latin typeface="Playfair Display SemiBold"/>
              <a:cs typeface="Playfair Display SemiBold"/>
            </a:endParaRPr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2BC45DE2-6216-042C-4CC3-8B0D4343F6A4}"/>
              </a:ext>
            </a:extLst>
          </p:cNvPr>
          <p:cNvSpPr txBox="1">
            <a:spLocks/>
          </p:cNvSpPr>
          <p:nvPr/>
        </p:nvSpPr>
        <p:spPr>
          <a:xfrm>
            <a:off x="7464861" y="8794512"/>
            <a:ext cx="5403970" cy="1328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50" b="0" i="0">
                <a:solidFill>
                  <a:srgbClr val="040505"/>
                </a:solidFill>
                <a:latin typeface="Century Gothic"/>
                <a:ea typeface="+mj-ea"/>
                <a:cs typeface="Century Gothic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8550" b="1" kern="0" spc="5" dirty="0">
                <a:solidFill>
                  <a:schemeClr val="bg1"/>
                </a:solidFill>
                <a:latin typeface="Playfair Display SemiBold"/>
                <a:cs typeface="Playfair Display SemiBold"/>
              </a:rPr>
              <a:t>1217666</a:t>
            </a:r>
            <a:r>
              <a:rPr lang="ru-RU" sz="8550" b="1" kern="0" spc="5" dirty="0">
                <a:solidFill>
                  <a:schemeClr val="bg1"/>
                </a:solidFill>
                <a:latin typeface="Playfair Display SemiBold"/>
                <a:cs typeface="Playfair Display SemiBold"/>
              </a:rPr>
              <a:t> кв</a:t>
            </a:r>
            <a:endParaRPr lang="ru-RU" sz="8550" kern="0" dirty="0">
              <a:solidFill>
                <a:schemeClr val="bg1"/>
              </a:solidFill>
              <a:latin typeface="Playfair Display SemiBold"/>
              <a:cs typeface="Playfair Display SemiBold"/>
            </a:endParaRPr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id="{EAC52868-EB22-03CB-32FE-528AE1601108}"/>
              </a:ext>
            </a:extLst>
          </p:cNvPr>
          <p:cNvSpPr txBox="1">
            <a:spLocks/>
          </p:cNvSpPr>
          <p:nvPr/>
        </p:nvSpPr>
        <p:spPr>
          <a:xfrm>
            <a:off x="14700130" y="8850262"/>
            <a:ext cx="5403970" cy="1328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50" b="0" i="0">
                <a:solidFill>
                  <a:srgbClr val="040505"/>
                </a:solidFill>
                <a:latin typeface="Century Gothic"/>
                <a:ea typeface="+mj-ea"/>
                <a:cs typeface="Century Gothic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8550" b="1" kern="0" spc="5" dirty="0">
                <a:solidFill>
                  <a:schemeClr val="bg1"/>
                </a:solidFill>
                <a:latin typeface="Playfair Display SemiBold"/>
                <a:cs typeface="Playfair Display SemiBold"/>
              </a:rPr>
              <a:t>12177</a:t>
            </a:r>
            <a:r>
              <a:rPr lang="ru-RU" sz="8550" b="1" kern="0" spc="5" dirty="0">
                <a:solidFill>
                  <a:schemeClr val="bg1"/>
                </a:solidFill>
                <a:latin typeface="Playfair Display SemiBold"/>
                <a:cs typeface="Playfair Display SemiBold"/>
              </a:rPr>
              <a:t> кв</a:t>
            </a:r>
            <a:endParaRPr lang="ru-RU" sz="8550" kern="0" dirty="0">
              <a:solidFill>
                <a:schemeClr val="bg1"/>
              </a:solidFill>
              <a:latin typeface="Playfair Display SemiBold"/>
              <a:cs typeface="Playfair Display SemiBold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C2DF9DE-C1C3-8FCD-82B3-3E5F9FD4D0F5}"/>
              </a:ext>
            </a:extLst>
          </p:cNvPr>
          <p:cNvSpPr txBox="1"/>
          <p:nvPr/>
        </p:nvSpPr>
        <p:spPr>
          <a:xfrm>
            <a:off x="3613150" y="1387822"/>
            <a:ext cx="12877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4400" b="1" spc="5" dirty="0">
                <a:solidFill>
                  <a:srgbClr val="4A5626"/>
                </a:solidFill>
                <a:latin typeface="Playfair Display SemiBold"/>
                <a:cs typeface="Playfair Display SemiBold"/>
              </a:rPr>
              <a:t>В квартирах</a:t>
            </a:r>
            <a:endParaRPr sz="4400" dirty="0">
              <a:latin typeface="Playfair Display SemiBold"/>
              <a:cs typeface="Playfair Display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DC3DB-69AC-5D6E-500F-8E4877CD6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6EFB29-82AD-6C96-AE3D-65BEB7D9F3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475794" y="1387475"/>
            <a:ext cx="5633720" cy="978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6250" b="1" spc="5" dirty="0">
                <a:solidFill>
                  <a:srgbClr val="4A5626"/>
                </a:solidFill>
                <a:latin typeface="Playfair Display SemiBold"/>
                <a:cs typeface="Playfair Display SemiBold"/>
              </a:rPr>
              <a:t>Наше решение</a:t>
            </a:r>
            <a:endParaRPr sz="6250" dirty="0">
              <a:latin typeface="Playfair Display SemiBold"/>
              <a:cs typeface="Playfair Display SemiBold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7C1F4E2-BC84-9B5F-EF5A-41631380B8DC}"/>
              </a:ext>
            </a:extLst>
          </p:cNvPr>
          <p:cNvSpPr txBox="1"/>
          <p:nvPr/>
        </p:nvSpPr>
        <p:spPr>
          <a:xfrm>
            <a:off x="11423650" y="2777774"/>
            <a:ext cx="8305799" cy="682302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Размещение</a:t>
            </a:r>
            <a:r>
              <a:rPr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:</a:t>
            </a:r>
            <a:r>
              <a:rPr lang="ru-RU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ru-RU" sz="1850" spc="10" dirty="0">
                <a:solidFill>
                  <a:srgbClr val="040505"/>
                </a:solidFill>
                <a:latin typeface="Century Gothic"/>
                <a:cs typeface="Century Gothic"/>
              </a:rPr>
              <a:t>Арендодатель добавляет объект в сервис — система автоматически публикует объявление на Циан, </a:t>
            </a:r>
            <a:r>
              <a:rPr lang="ru-RU" sz="1850" spc="10" dirty="0" err="1">
                <a:solidFill>
                  <a:srgbClr val="040505"/>
                </a:solidFill>
                <a:latin typeface="Century Gothic"/>
                <a:cs typeface="Century Gothic"/>
              </a:rPr>
              <a:t>Авито</a:t>
            </a:r>
            <a:r>
              <a:rPr lang="ru-RU" sz="1850" spc="10" dirty="0">
                <a:solidFill>
                  <a:srgbClr val="040505"/>
                </a:solidFill>
                <a:latin typeface="Century Gothic"/>
                <a:cs typeface="Century Gothic"/>
              </a:rPr>
              <a:t> и </a:t>
            </a:r>
            <a:r>
              <a:rPr lang="ru-RU" sz="1850" spc="10" dirty="0" err="1">
                <a:solidFill>
                  <a:srgbClr val="040505"/>
                </a:solidFill>
                <a:latin typeface="Century Gothic"/>
                <a:cs typeface="Century Gothic"/>
              </a:rPr>
              <a:t>Яндекс.Недвижимость</a:t>
            </a:r>
            <a:r>
              <a:rPr lang="ru-RU" sz="1850" spc="10" dirty="0">
                <a:solidFill>
                  <a:srgbClr val="040505"/>
                </a:solidFill>
                <a:latin typeface="Century Gothic"/>
                <a:cs typeface="Century Gothic"/>
              </a:rPr>
              <a:t>.</a:t>
            </a:r>
            <a:endParaRPr sz="23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lang="ru-RU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Коммуникация и отбор</a:t>
            </a:r>
            <a:r>
              <a:rPr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:</a:t>
            </a:r>
            <a:r>
              <a:rPr lang="ru-RU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 </a:t>
            </a:r>
          </a:p>
          <a:p>
            <a:pPr marL="12700">
              <a:lnSpc>
                <a:spcPct val="100000"/>
              </a:lnSpc>
            </a:pPr>
            <a:r>
              <a:rPr lang="ru-RU" sz="1850" spc="10" dirty="0">
                <a:solidFill>
                  <a:srgbClr val="040505"/>
                </a:solidFill>
                <a:latin typeface="Century Gothic"/>
                <a:cs typeface="Century Gothic"/>
              </a:rPr>
              <a:t>Все диалоги с кандидатами из разных площадок ведутся в едином окне. Собственник выбирает арендатора и «привязывает» его к объекту через ссылку-приглашение.</a:t>
            </a:r>
            <a:endParaRPr sz="23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lang="ru-RU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Сделка и платежи</a:t>
            </a:r>
            <a:r>
              <a:rPr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:</a:t>
            </a:r>
            <a:r>
              <a:rPr lang="ru-RU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 </a:t>
            </a:r>
          </a:p>
          <a:p>
            <a:pPr marL="12700">
              <a:lnSpc>
                <a:spcPct val="100000"/>
              </a:lnSpc>
            </a:pPr>
            <a:r>
              <a:rPr lang="ru-RU" sz="1850" spc="10" dirty="0">
                <a:solidFill>
                  <a:srgbClr val="040505"/>
                </a:solidFill>
                <a:latin typeface="Century Gothic"/>
                <a:cs typeface="Century Gothic"/>
              </a:rPr>
              <a:t>Стороны заключают электронный договор, сервис фиксирует даты платежей и автоматически напоминает арендатору об оплате.</a:t>
            </a: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lang="ru-RU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Обслуживание</a:t>
            </a:r>
            <a:r>
              <a:rPr lang="en-US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:</a:t>
            </a:r>
            <a:r>
              <a:rPr lang="ru-RU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  </a:t>
            </a: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lang="ru-RU" sz="1850" spc="10" dirty="0">
                <a:solidFill>
                  <a:srgbClr val="040505"/>
                </a:solidFill>
                <a:latin typeface="Century Gothic"/>
                <a:cs typeface="Century Gothic"/>
              </a:rPr>
              <a:t>При бытовых проблемах арендатор создаёт заявку. Арендодатель через интеграцию с профильными сайтами находит мастера и отслеживает закрытие заявки.</a:t>
            </a:r>
            <a:endParaRPr lang="en-US" sz="1850" spc="10" dirty="0">
              <a:solidFill>
                <a:srgbClr val="040505"/>
              </a:solidFill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lang="ru-RU" sz="185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Аналитика и цикличность:</a:t>
            </a: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lang="ru-RU" sz="1850" dirty="0">
                <a:latin typeface="Century Gothic"/>
                <a:cs typeface="Century Gothic"/>
              </a:rPr>
              <a:t>Ведётся вся документация и статистика по жильцам. При съезде старый арендатор отвязывается — объект мгновенно готов к новой сдаче.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CBB6EA8-D395-591B-B579-7FF7BFE73E83}"/>
              </a:ext>
            </a:extLst>
          </p:cNvPr>
          <p:cNvSpPr/>
          <p:nvPr/>
        </p:nvSpPr>
        <p:spPr>
          <a:xfrm>
            <a:off x="0" y="0"/>
            <a:ext cx="5229212" cy="11308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0C8AAB6-D3FB-5BA0-BA70-3C107A77EE7D}"/>
              </a:ext>
            </a:extLst>
          </p:cNvPr>
          <p:cNvSpPr/>
          <p:nvPr/>
        </p:nvSpPr>
        <p:spPr>
          <a:xfrm>
            <a:off x="1219617" y="2489411"/>
            <a:ext cx="5379720" cy="7634605"/>
          </a:xfrm>
          <a:custGeom>
            <a:avLst/>
            <a:gdLst/>
            <a:ahLst/>
            <a:cxnLst/>
            <a:rect l="l" t="t" r="r" b="b"/>
            <a:pathLst>
              <a:path w="5379720" h="7634605">
                <a:moveTo>
                  <a:pt x="0" y="7634563"/>
                </a:moveTo>
                <a:lnTo>
                  <a:pt x="5379197" y="7634563"/>
                </a:lnTo>
                <a:lnTo>
                  <a:pt x="5379197" y="0"/>
                </a:lnTo>
                <a:lnTo>
                  <a:pt x="0" y="0"/>
                </a:lnTo>
                <a:lnTo>
                  <a:pt x="0" y="7634563"/>
                </a:lnTo>
                <a:close/>
              </a:path>
            </a:pathLst>
          </a:custGeom>
          <a:solidFill>
            <a:srgbClr val="5C61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184862D-9842-9A9F-B089-F867DBBC2A5A}"/>
              </a:ext>
            </a:extLst>
          </p:cNvPr>
          <p:cNvSpPr/>
          <p:nvPr/>
        </p:nvSpPr>
        <p:spPr>
          <a:xfrm>
            <a:off x="1861241" y="1297018"/>
            <a:ext cx="9089618" cy="8313663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1438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01018" y="575605"/>
            <a:ext cx="7581900" cy="978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6250" b="1" spc="5" dirty="0">
                <a:solidFill>
                  <a:srgbClr val="4A5626"/>
                </a:solidFill>
                <a:latin typeface="Playfair Display SemiBold"/>
                <a:cs typeface="Playfair Display SemiBold"/>
              </a:rPr>
              <a:t>Гипотезы</a:t>
            </a:r>
            <a:endParaRPr sz="6250" dirty="0">
              <a:latin typeface="Playfair Display SemiBold"/>
              <a:cs typeface="Playfair Display SemiBol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33768" y="2216614"/>
            <a:ext cx="16916400" cy="747768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0"/>
              </a:spcBef>
            </a:pPr>
            <a:r>
              <a:rPr lang="ru-RU" sz="320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Гипотеза 1 Что проверить: </a:t>
            </a:r>
            <a:r>
              <a:rPr lang="ru-RU" sz="3200" spc="10" dirty="0">
                <a:solidFill>
                  <a:srgbClr val="040505"/>
                </a:solidFill>
                <a:latin typeface="Century Gothic"/>
                <a:cs typeface="Century Gothic"/>
              </a:rPr>
              <a:t>готовность арендодателей использовать отдельное приложение. </a:t>
            </a:r>
            <a:r>
              <a:rPr lang="ru-RU" sz="320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Как проверить: </a:t>
            </a:r>
            <a:r>
              <a:rPr lang="ru-RU" sz="3200" spc="10" dirty="0">
                <a:solidFill>
                  <a:srgbClr val="040505"/>
                </a:solidFill>
                <a:latin typeface="Century Gothic"/>
                <a:cs typeface="Century Gothic"/>
              </a:rPr>
              <a:t>интервью с арендодателями. </a:t>
            </a:r>
            <a:r>
              <a:rPr lang="ru-RU" sz="320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Критерий:</a:t>
            </a:r>
            <a:r>
              <a:rPr lang="ru-RU" sz="3200" spc="10" dirty="0">
                <a:solidFill>
                  <a:srgbClr val="040505"/>
                </a:solidFill>
                <a:latin typeface="Century Gothic"/>
                <a:cs typeface="Century Gothic"/>
              </a:rPr>
              <a:t> не менее 60% считают решение полезным. </a:t>
            </a:r>
          </a:p>
          <a:p>
            <a:pPr marL="12700" algn="just">
              <a:lnSpc>
                <a:spcPct val="100000"/>
              </a:lnSpc>
              <a:spcBef>
                <a:spcPts val="110"/>
              </a:spcBef>
            </a:pPr>
            <a:endParaRPr lang="ru-RU" sz="3200" spc="10" dirty="0">
              <a:solidFill>
                <a:srgbClr val="040505"/>
              </a:solidFill>
              <a:latin typeface="Century Gothic"/>
              <a:cs typeface="Century Gothic"/>
            </a:endParaRPr>
          </a:p>
          <a:p>
            <a:pPr marL="12700" algn="just">
              <a:lnSpc>
                <a:spcPct val="100000"/>
              </a:lnSpc>
              <a:spcBef>
                <a:spcPts val="110"/>
              </a:spcBef>
            </a:pPr>
            <a:r>
              <a:rPr lang="ru-RU" sz="320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Гипотеза 2 Что проверить: </a:t>
            </a:r>
            <a:r>
              <a:rPr lang="ru-RU" sz="3200" spc="10" dirty="0">
                <a:solidFill>
                  <a:srgbClr val="040505"/>
                </a:solidFill>
                <a:latin typeface="Century Gothic"/>
                <a:cs typeface="Century Gothic"/>
              </a:rPr>
              <a:t>готовность отказаться от текущих инструментов (мессенджеров и таблиц). </a:t>
            </a:r>
            <a:r>
              <a:rPr lang="ru-RU" sz="320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Как проверить: </a:t>
            </a:r>
            <a:r>
              <a:rPr lang="ru-RU" sz="3200" spc="10" dirty="0">
                <a:solidFill>
                  <a:srgbClr val="040505"/>
                </a:solidFill>
                <a:latin typeface="Century Gothic"/>
                <a:cs typeface="Century Gothic"/>
              </a:rPr>
              <a:t>демонстрация прототипа приложения. </a:t>
            </a:r>
            <a:r>
              <a:rPr lang="ru-RU" sz="320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Критерий: </a:t>
            </a:r>
            <a:r>
              <a:rPr lang="ru-RU" sz="3200" spc="10" dirty="0">
                <a:solidFill>
                  <a:srgbClr val="040505"/>
                </a:solidFill>
                <a:latin typeface="Century Gothic"/>
                <a:cs typeface="Century Gothic"/>
              </a:rPr>
              <a:t>не менее 40% готовы попробовать сервис. </a:t>
            </a:r>
          </a:p>
          <a:p>
            <a:pPr marL="12700" algn="just">
              <a:lnSpc>
                <a:spcPct val="100000"/>
              </a:lnSpc>
              <a:spcBef>
                <a:spcPts val="110"/>
              </a:spcBef>
            </a:pPr>
            <a:endParaRPr lang="ru-RU" sz="3200" spc="10" dirty="0">
              <a:solidFill>
                <a:srgbClr val="040505"/>
              </a:solidFill>
              <a:latin typeface="Century Gothic"/>
              <a:cs typeface="Century Gothic"/>
            </a:endParaRPr>
          </a:p>
          <a:p>
            <a:pPr marL="12700" algn="just">
              <a:lnSpc>
                <a:spcPct val="100000"/>
              </a:lnSpc>
              <a:spcBef>
                <a:spcPts val="110"/>
              </a:spcBef>
            </a:pPr>
            <a:r>
              <a:rPr lang="ru-RU" sz="320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Гипотеза 3 Что проверить: </a:t>
            </a:r>
            <a:r>
              <a:rPr lang="ru-RU" sz="3200" spc="10" dirty="0">
                <a:solidFill>
                  <a:srgbClr val="040505"/>
                </a:solidFill>
                <a:latin typeface="Century Gothic"/>
                <a:cs typeface="Century Gothic"/>
              </a:rPr>
              <a:t>готовность платить за сервис. </a:t>
            </a:r>
            <a:r>
              <a:rPr lang="ru-RU" sz="320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Как проверить: </a:t>
            </a:r>
            <a:r>
              <a:rPr lang="ru-RU" sz="3200" spc="10" dirty="0">
                <a:solidFill>
                  <a:srgbClr val="040505"/>
                </a:solidFill>
                <a:latin typeface="Century Gothic"/>
                <a:cs typeface="Century Gothic"/>
              </a:rPr>
              <a:t>лендинг с описанием продукта и ценой. </a:t>
            </a:r>
            <a:r>
              <a:rPr lang="ru-RU" sz="320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Критерий: </a:t>
            </a:r>
            <a:r>
              <a:rPr lang="ru-RU" sz="3200" spc="10" dirty="0">
                <a:solidFill>
                  <a:srgbClr val="040505"/>
                </a:solidFill>
                <a:latin typeface="Century Gothic"/>
                <a:cs typeface="Century Gothic"/>
              </a:rPr>
              <a:t>конверсия оставленных контактов ≥ 5%.</a:t>
            </a:r>
          </a:p>
          <a:p>
            <a:pPr marL="12700" algn="just">
              <a:lnSpc>
                <a:spcPct val="100000"/>
              </a:lnSpc>
              <a:spcBef>
                <a:spcPts val="110"/>
              </a:spcBef>
            </a:pPr>
            <a:endParaRPr lang="ru-RU" sz="3200" spc="10" dirty="0">
              <a:solidFill>
                <a:srgbClr val="040505"/>
              </a:solidFill>
              <a:latin typeface="Century Gothic"/>
              <a:cs typeface="Century Gothic"/>
            </a:endParaRPr>
          </a:p>
          <a:p>
            <a:pPr marL="12700" algn="just">
              <a:lnSpc>
                <a:spcPct val="100000"/>
              </a:lnSpc>
              <a:spcBef>
                <a:spcPts val="110"/>
              </a:spcBef>
            </a:pPr>
            <a:r>
              <a:rPr lang="ru-RU" sz="320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Гипотеза 4 Что проверить: </a:t>
            </a:r>
            <a:r>
              <a:rPr lang="ru-RU" sz="3200" spc="10" dirty="0">
                <a:solidFill>
                  <a:srgbClr val="040505"/>
                </a:solidFill>
                <a:latin typeface="Century Gothic"/>
                <a:cs typeface="Century Gothic"/>
              </a:rPr>
              <a:t>интерес арендаторов к использованию приложения. </a:t>
            </a:r>
            <a:r>
              <a:rPr lang="ru-RU" sz="320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Как проверить: </a:t>
            </a:r>
            <a:r>
              <a:rPr lang="ru-RU" sz="3200" spc="10" dirty="0">
                <a:solidFill>
                  <a:srgbClr val="040505"/>
                </a:solidFill>
                <a:latin typeface="Century Gothic"/>
                <a:cs typeface="Century Gothic"/>
              </a:rPr>
              <a:t>опрос арендаторов. </a:t>
            </a:r>
            <a:r>
              <a:rPr lang="ru-RU" sz="3200" b="1" spc="10" dirty="0">
                <a:solidFill>
                  <a:srgbClr val="040505"/>
                </a:solidFill>
                <a:latin typeface="Century Gothic"/>
                <a:cs typeface="Century Gothic"/>
              </a:rPr>
              <a:t>Критерий: </a:t>
            </a:r>
            <a:r>
              <a:rPr lang="ru-RU" sz="3200" spc="10" dirty="0">
                <a:solidFill>
                  <a:srgbClr val="040505"/>
                </a:solidFill>
                <a:latin typeface="Century Gothic"/>
                <a:cs typeface="Century Gothic"/>
              </a:rPr>
              <a:t>не менее 50% готовы установить приложение.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0412112"/>
            <a:ext cx="20104098" cy="8964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308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65986" y="4572000"/>
            <a:ext cx="7615884" cy="2721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8800" b="1" spc="5" dirty="0">
                <a:solidFill>
                  <a:srgbClr val="FFFFFF"/>
                </a:solidFill>
                <a:latin typeface="Playfair Display SemiBold"/>
                <a:cs typeface="Playfair Display SemiBold"/>
              </a:rPr>
              <a:t>СПАСИБО ЗА ВНИМАНИЕ!</a:t>
            </a:r>
            <a:endParaRPr sz="8800" dirty="0">
              <a:latin typeface="Playfair Display SemiBold"/>
              <a:cs typeface="Playfair Display SemiBold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952350" y="0"/>
            <a:ext cx="5151755" cy="11308715"/>
          </a:xfrm>
          <a:custGeom>
            <a:avLst/>
            <a:gdLst/>
            <a:ahLst/>
            <a:cxnLst/>
            <a:rect l="l" t="t" r="r" b="b"/>
            <a:pathLst>
              <a:path w="5151755" h="11308715">
                <a:moveTo>
                  <a:pt x="0" y="11308556"/>
                </a:moveTo>
                <a:lnTo>
                  <a:pt x="5151748" y="11308556"/>
                </a:lnTo>
                <a:lnTo>
                  <a:pt x="5151748" y="0"/>
                </a:lnTo>
                <a:lnTo>
                  <a:pt x="0" y="0"/>
                </a:lnTo>
                <a:lnTo>
                  <a:pt x="0" y="11308556"/>
                </a:lnTo>
                <a:close/>
              </a:path>
            </a:pathLst>
          </a:custGeom>
          <a:solidFill>
            <a:srgbClr val="5C61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372030" y="2286844"/>
            <a:ext cx="6825466" cy="90217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</TotalTime>
  <Words>709</Words>
  <Application>Microsoft Office PowerPoint</Application>
  <PresentationFormat>Произвольный</PresentationFormat>
  <Paragraphs>146</Paragraphs>
  <Slides>11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Calibri</vt:lpstr>
      <vt:lpstr>Century Gothic</vt:lpstr>
      <vt:lpstr>Lucida Sans</vt:lpstr>
      <vt:lpstr>Playfair Display</vt:lpstr>
      <vt:lpstr>Playfair Display SemiBold</vt:lpstr>
      <vt:lpstr>Office Theme</vt:lpstr>
      <vt:lpstr>Worksheet</vt:lpstr>
      <vt:lpstr>Презентация PowerPoint</vt:lpstr>
      <vt:lpstr>Проблема</vt:lpstr>
      <vt:lpstr>Целевая аудитория Кто эти люди? Кому это нужно?</vt:lpstr>
      <vt:lpstr>Целевая аудитория</vt:lpstr>
      <vt:lpstr>Конкуренты</vt:lpstr>
      <vt:lpstr>Презентация PowerPoint</vt:lpstr>
      <vt:lpstr>Драйверы</vt:lpstr>
      <vt:lpstr>Презентация PowerPoint</vt:lpstr>
      <vt:lpstr>Наше решение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Project Presentation</dc:title>
  <dc:creator>Mi</dc:creator>
  <cp:lastModifiedBy>Софья Долгова</cp:lastModifiedBy>
  <cp:revision>6</cp:revision>
  <dcterms:created xsi:type="dcterms:W3CDTF">2023-10-31T07:22:40Z</dcterms:created>
  <dcterms:modified xsi:type="dcterms:W3CDTF">2026-03-23T18:51:58Z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2023-10-31T00:00:00Z</vt:filetime>
  </property>
  <property fmtid="{D5CDD505-2E9C-101B-9397-08002B2CF9AE}" pid="3" name="Creator">
    <vt:lpwstr>Adobe Illustrator 27.9 (Windows)</vt:lpwstr>
  </property>
  <property fmtid="{D5CDD505-2E9C-101B-9397-08002B2CF9AE}" pid="4" name="LastSaved">
    <vt:filetime>2023-10-31T00:00:00Z</vt:filetime>
  </property>
</Properties>
</file>