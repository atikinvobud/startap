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B0604020202020204" charset="0"/>
      <p:regular r:id="rId15"/>
    </p:embeddedFont>
    <p:embeddedFont>
      <p:font typeface="Saira Medium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4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9423" y="27968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RentFlow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339423" y="3791545"/>
            <a:ext cx="6487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Сервис управления арендной недвижимостью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39423" y="4752419"/>
            <a:ext cx="88171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ЭФБО-01-23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Команда</a:t>
            </a:r>
            <a:r>
              <a:rPr lang="ru-RU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№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ru-RU" sz="16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Участники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endParaRPr lang="ru-RU" sz="16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Бурков Олег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Дмитриев Артём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Долгова Софья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Дубов Никита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130653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475" y="470297"/>
            <a:ext cx="10238661" cy="52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Проблема управления арендной недвижимостью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452" y="1702845"/>
            <a:ext cx="6251966" cy="3909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2144" y="3490753"/>
            <a:ext cx="2355860" cy="65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Property Condition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759950" y="5552296"/>
            <a:ext cx="2355860" cy="3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Document Flow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622447" y="3587811"/>
            <a:ext cx="2355859" cy="65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Payment Tracking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59950" y="1509444"/>
            <a:ext cx="2355860" cy="65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Tenant Sourcing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02715" y="2222592"/>
            <a:ext cx="3789045" cy="46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Владельцы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арендной недвижимости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тратят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много времени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ручн</a:t>
            </a:r>
            <a:r>
              <a:rPr lang="ru-RU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ое</a:t>
            </a:r>
            <a:r>
              <a:rPr lang="ru-RU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управление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ru-RU" sz="20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Поиск и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проверка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арендаторов</a:t>
            </a: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r>
              <a:rPr lang="ru-RU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Отслеживание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напоминания по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платежам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Ведение договоров и документов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вручную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ru-RU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состояния жилья и заявки на ремонт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4605" y="1284208"/>
            <a:ext cx="6633686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Размер рынка (TAM / SAM / SOM)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605" y="2118479"/>
            <a:ext cx="5509260" cy="30880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4631" y="2103358"/>
            <a:ext cx="2653070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Краткая таблица расчётов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524631" y="2497812"/>
            <a:ext cx="5508546" cy="3516035"/>
          </a:xfrm>
          <a:prstGeom prst="roundRect">
            <a:avLst>
              <a:gd name="adj" fmla="val 42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32251" y="2505432"/>
            <a:ext cx="5493306" cy="3889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697867" y="2585442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Параметр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97565" y="2585442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32251" y="2894409"/>
            <a:ext cx="5493306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697867" y="2974419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Население РФ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97565" y="2974419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146 119 928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32251" y="3283387"/>
            <a:ext cx="5493306" cy="3889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697867" y="3363397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Доля арендаторов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97565" y="3363397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32251" y="3672364"/>
            <a:ext cx="5493306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697867" y="3752374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Средний размер семьи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97565" y="3752374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32251" y="4061341"/>
            <a:ext cx="5493306" cy="3889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697867" y="4141351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Адресное TAM (домохозяйств)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97565" y="4141351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4 870 664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532251" y="4450318"/>
            <a:ext cx="5493306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697867" y="4530328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Подписка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997565" y="4530328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₽200/мес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532251" y="4839295"/>
            <a:ext cx="5493306" cy="3889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697867" y="4919305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 (год)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997565" y="4919305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₽11.7 млрд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532251" y="5228273"/>
            <a:ext cx="5493306" cy="3889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697867" y="5308283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 (города‑миллионники, 25%)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997565" y="5308283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₽2.9 млрд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532251" y="5617250"/>
            <a:ext cx="5493306" cy="3889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697867" y="5697260"/>
            <a:ext cx="296108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 (1% SAM)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997565" y="5697260"/>
            <a:ext cx="186249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₽29 млн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524631" y="6149697"/>
            <a:ext cx="5508546" cy="68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Ключевая ставка: подписка ₽200/мес. SOM представлен реалистичной долей раннего выхода на рынок — 1% в городах‑миллионниках.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Целевая аудитория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2796064"/>
            <a:ext cx="307145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Приоритетный сегмент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536049" y="3333274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Частные арендодатели с 1–5 квартирами — основная ставка для раннего роста.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049" y="3894296"/>
            <a:ext cx="575310" cy="575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64367" y="3894296"/>
            <a:ext cx="178700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Проблемы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364367" y="4431506"/>
            <a:ext cx="1966833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Неэффективное управление, </a:t>
            </a:r>
            <a:r>
              <a:rPr lang="ru-RU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сложный документооборот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ru-RU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</a:t>
            </a:r>
            <a:r>
              <a:rPr lang="ru-RU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 общения с потенциальными съёмщиками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384" y="3894296"/>
            <a:ext cx="575310" cy="5753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32702" y="3894296"/>
            <a:ext cx="1787009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Готовность платить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232702" y="4766310"/>
            <a:ext cx="1787009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Получают доход от аренды и ценят автоматизацию рутинных задач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718" y="3894296"/>
            <a:ext cx="575310" cy="5753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01036" y="3894296"/>
            <a:ext cx="178700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Требования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2101036" y="4431506"/>
            <a:ext cx="1787009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Простые решения, быстрый старт, минимум настроек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5089" y="409227"/>
            <a:ext cx="52875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Конкуренты — сравнительный анализ</a:t>
            </a:r>
            <a:endParaRPr lang="en-US" sz="2200" dirty="0"/>
          </a:p>
        </p:txBody>
      </p:sp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D133B03-5108-4C46-82DC-7D326C0F42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9" t="1485" r="1185" b="1650"/>
          <a:stretch/>
        </p:blipFill>
        <p:spPr>
          <a:xfrm>
            <a:off x="1280160" y="1178560"/>
            <a:ext cx="12009120" cy="5963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8308"/>
            <a:ext cx="7269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Ценностное предложение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4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Кратко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05207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RentFlow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единое приложение для управления арендой квартир: коммуникация, платежи, документы и контроль состояния в одном месте.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60890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Специализированный сервис для аренды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Простое приглашение арендатора и контроль доступа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Полная история платежей и прозрачные отчёты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Централизованная коммуникация вместо мессенджеров и таблиц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459950"/>
            <a:ext cx="8284131" cy="34286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55924" y="3411434"/>
            <a:ext cx="1338697" cy="2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55924" y="3706314"/>
            <a:ext cx="1338697" cy="73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Messengers, spreadsheets, missed payments, ad-hoc repairs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302481" y="3411434"/>
            <a:ext cx="1338698" cy="2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After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02481" y="3706314"/>
            <a:ext cx="1338698" cy="91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app, automated reminders, payment history, repair workflow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559981" y="614374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Результат: снижение операционного времени, меньше просрочек, единая история по каждому объекту.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1348" y="498396"/>
            <a:ext cx="8112681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MVP — функционал и дорожная карта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48" y="1318260"/>
            <a:ext cx="12107704" cy="4776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44813" y="2972516"/>
            <a:ext cx="2408625" cy="327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3144813" y="3393434"/>
            <a:ext cx="2408625" cy="92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Chat, payment reminders, property registry, payment history, tenant invite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139301" y="3090126"/>
            <a:ext cx="2408625" cy="327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Support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139301" y="3511044"/>
            <a:ext cx="2408625" cy="92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Notifications, document upload, payment status, calendar, notes, income report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68743" y="2972516"/>
            <a:ext cx="2408625" cy="327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Later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168743" y="3393434"/>
            <a:ext cx="2408625" cy="92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 integration, auto-pay, tenant ratings, legal templates, insurance, marketplace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61348" y="6247448"/>
            <a:ext cx="3945374" cy="1483638"/>
          </a:xfrm>
          <a:prstGeom prst="roundRect">
            <a:avLst>
              <a:gd name="adj" fmla="val 10645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1967" y="6438067"/>
            <a:ext cx="21933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451967" y="6793587"/>
            <a:ext cx="3564136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Чат, напоминания, учёт объектов, история платежей, приглашение арендатора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342453" y="6247448"/>
            <a:ext cx="3945374" cy="1483638"/>
          </a:xfrm>
          <a:prstGeom prst="roundRect">
            <a:avLst>
              <a:gd name="adj" fmla="val 10645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3073" y="6438067"/>
            <a:ext cx="21933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Support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533073" y="6793587"/>
            <a:ext cx="3564136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Уведомления, загрузка документов, статус оплаты, календарь, заметки, отчёт по доходам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423559" y="6247448"/>
            <a:ext cx="3945374" cy="1483638"/>
          </a:xfrm>
          <a:prstGeom prst="roundRect">
            <a:avLst>
              <a:gd name="adj" fmla="val 10645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14178" y="6438067"/>
            <a:ext cx="21933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Later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14178" y="6793587"/>
            <a:ext cx="3564136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Интеграции с банками, автоплатеж, рейтинг арендаторов, юридические шаблоны, страхование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2217" y="1461968"/>
            <a:ext cx="7454503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Гипотезы продукта и план проверки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542217" y="2308860"/>
            <a:ext cx="5568791" cy="4319945"/>
          </a:xfrm>
          <a:prstGeom prst="roundRect">
            <a:avLst>
              <a:gd name="adj" fmla="val 34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49837" y="2316480"/>
            <a:ext cx="5553551" cy="395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717238" y="2398157"/>
            <a:ext cx="188297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Гипотеза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42398" y="2398157"/>
            <a:ext cx="132385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 проверки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08439" y="2398157"/>
            <a:ext cx="132766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49837" y="2712363"/>
            <a:ext cx="5553551" cy="8609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17238" y="2794040"/>
            <a:ext cx="1882973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Арендодатели готовы использовать отдельное приложение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42398" y="2794040"/>
            <a:ext cx="1323856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Интервью, демонстрация прототипа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08439" y="2794040"/>
            <a:ext cx="1327666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 считают полезным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49837" y="3573304"/>
            <a:ext cx="5553551" cy="1093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17238" y="3654981"/>
            <a:ext cx="1882973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Пользователи готовы отказаться от Excel и мессенджеров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42398" y="3654981"/>
            <a:ext cx="1323856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Пилот с ранними пользователями, наблюдение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08439" y="3654981"/>
            <a:ext cx="1327666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 готовы попробовать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49837" y="4666774"/>
            <a:ext cx="5553551" cy="8609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17238" y="4748451"/>
            <a:ext cx="1882973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Арендодатели готовы платить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42398" y="4748451"/>
            <a:ext cx="1323856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Лендинг + тест платной подписки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08439" y="4748451"/>
            <a:ext cx="1327666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Конверсия лендинга ≥ 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49837" y="5527715"/>
            <a:ext cx="5553551" cy="1093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17238" y="5609392"/>
            <a:ext cx="1882973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Арендаторы готовы установить приложение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42398" y="5609392"/>
            <a:ext cx="1323856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Опросы, A/B тесты приглашений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08439" y="5609392"/>
            <a:ext cx="1327666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50% арендаторов готовы установить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26774" y="2293382"/>
            <a:ext cx="3101102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План экспериментов (1–3 мес.)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26774" y="2678192"/>
            <a:ext cx="5568791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Сбор 30 интервью целевой аудитории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Прототип + 10 пилотных арендодателей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Лендинг с предложением ранней подписки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Аналитика ключевых метрик: активация, удержание, конверсия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502</Words>
  <Application>Microsoft Office PowerPoint</Application>
  <PresentationFormat>Произвольный</PresentationFormat>
  <Paragraphs>107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Roboto</vt:lpstr>
      <vt:lpstr>Saira Medium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Дубов Никита</dc:creator>
  <cp:lastModifiedBy>Дубов Никита Сергеевич</cp:lastModifiedBy>
  <cp:revision>3</cp:revision>
  <dcterms:created xsi:type="dcterms:W3CDTF">2026-03-10T15:55:10Z</dcterms:created>
  <dcterms:modified xsi:type="dcterms:W3CDTF">2026-03-10T16:24:40Z</dcterms:modified>
</cp:coreProperties>
</file>