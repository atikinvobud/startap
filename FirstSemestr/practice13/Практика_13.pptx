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Platypi Medium" panose="020B0604020202020204" charset="0"/>
      <p:regular r:id="rId14"/>
    </p:embeddedFont>
    <p:embeddedFont>
      <p:font typeface="Source Serif 4" panose="020B060402020202020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113" y="6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07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880765"/>
            <a:ext cx="2276252" cy="233214"/>
          </a:xfrm>
          <a:prstGeom prst="roundRect">
            <a:avLst>
              <a:gd name="adj" fmla="val 6383"/>
            </a:avLst>
          </a:prstGeom>
          <a:solidFill>
            <a:srgbClr val="F3E3D8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917972"/>
            <a:ext cx="2584624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PRE-SEED · ПЕРВЫЕ ПЛАТЯЩИЕ КЛИЕНТЫ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163538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Ключник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1737122"/>
            <a:ext cx="4722763" cy="1604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Управление арендой квартиры в одном приложении</a:t>
            </a:r>
            <a:endParaRPr lang="en-US" sz="3350" dirty="0"/>
          </a:p>
        </p:txBody>
      </p:sp>
      <p:sp>
        <p:nvSpPr>
          <p:cNvPr id="7" name="Text 4"/>
          <p:cNvSpPr/>
          <p:nvPr/>
        </p:nvSpPr>
        <p:spPr>
          <a:xfrm>
            <a:off x="3925119" y="3527822"/>
            <a:ext cx="4722763" cy="734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Чат · Заявки · Оплата · Документы — всё в одном месте. Для частных арендодателей с 1–5 объектами.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Команда: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Бурков О.А., Долгова С.С., Дмитриев А.В., Дубов Н.С.</a:t>
            </a:r>
            <a:endParaRPr lang="en-US" sz="9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F535B15-A4C0-5ECD-6EB7-EBF78EC0C575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45815"/>
            <a:ext cx="1277094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487784"/>
            <a:ext cx="157594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ПРОБЛЕМА И КЛИЕНТ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38113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Арендодатели теряют деньги из-за отсутствия системы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699245"/>
            <a:ext cx="4103191" cy="1148804"/>
          </a:xfrm>
          <a:prstGeom prst="roundRect">
            <a:avLst>
              <a:gd name="adj" fmla="val 1620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82321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141041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Арендодатели с 1–5 квартирами ведут коммуникацию через мессенджеры, таблицы и звонки. Последствия: потеря заявок, просрочки оплат, хаос при росте объектов.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182321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Клиент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8046" y="2141041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Частные арендодатели в городах-миллионниках. Сдаёт сам, общается в WhatsApp, учёт «в голове» или Excel. Хочет контроля — но не хочет сложных CRM.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2154" y="3127102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«Когда я сдаю квартиру, я хочу удобно контролировать оплату и общение, чтобы не терять деньги и не держать всё в голове»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2987576"/>
            <a:ext cx="14288" cy="47751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496119" y="3666604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9%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20007" y="42309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Домохозяйств в РФ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119" y="4499223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арендуют жильё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9465" y="3666604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&gt;70%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873353" y="423096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Жалуются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9465" y="4499223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 отсутствие единой системы управления (bn.ru, форумы)</a:t>
            </a:r>
            <a:endParaRPr lang="en-US" sz="9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4D22CA8-C161-9DCF-2A2C-E8A3813F8F14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9154"/>
            <a:ext cx="977950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651123"/>
            <a:ext cx="127679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РЕШЕНИЕ · MVP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01452"/>
            <a:ext cx="739020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Ключник — единое пространство для аренды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75036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Кликабельный прототип готов: пользователь создаёт объект аренды, добавляет арендатора и за одну сессию получает чат, заявку и статус оплаты.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11487"/>
            <a:ext cx="310083" cy="3100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476574"/>
            <a:ext cx="2448074" cy="20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Чат арендодатель </a:t>
            </a:r>
            <a:r>
              <a:rPr lang="en-US" sz="1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↔</a:t>
            </a: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арендатор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6119" y="2759125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Вся переписка по объекту в одном месте — без потери контекста и истории сообщений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9465" y="2011487"/>
            <a:ext cx="310083" cy="3100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9465" y="247657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Заявки на ремонт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649465" y="2744837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Создание, отслеживание статуса и история всех обращений по объекту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404071"/>
            <a:ext cx="310083" cy="3100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38691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Учёт платежей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6119" y="4137422"/>
            <a:ext cx="399834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Напоминания об оплате, история транзакций и контроль просрочек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9465" y="3404071"/>
            <a:ext cx="310083" cy="31008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49465" y="3869159"/>
            <a:ext cx="16741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Хранение документов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649465" y="4137422"/>
            <a:ext cx="39984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Договоры аренды и все документы по объекту — всегда под рукой</a:t>
            </a:r>
            <a:endParaRPr lang="en-US" sz="9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75673D-DCD5-DC3D-926B-565AF70412FB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9472"/>
            <a:ext cx="451545" cy="197644"/>
          </a:xfrm>
          <a:prstGeom prst="roundRect">
            <a:avLst>
              <a:gd name="adj" fmla="val 640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4133" y="455861"/>
            <a:ext cx="772716" cy="12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6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РЫНОК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52909"/>
            <a:ext cx="6817519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Рынок аренды жилья в России: 11,7 млрд руб./год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17488"/>
            <a:ext cx="3712518" cy="25494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5789" y="1206326"/>
            <a:ext cx="209393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Расчёт TAM / SAM / SOM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125789" y="1460599"/>
            <a:ext cx="3526780" cy="78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TAM: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4,87 млн домохозяйств × 2 400 руб./год = </a:t>
            </a: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11,7 млрд руб./год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SAM: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Города-миллионники (25%) → 1,21 млн домохозяйств → </a:t>
            </a: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2,9 млрд руб./год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SOM: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1% от SAM за 3 года → 12 000 клиентов → </a:t>
            </a: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29 млн руб./год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125789" y="2346722"/>
            <a:ext cx="3526780" cy="561305"/>
          </a:xfrm>
          <a:prstGeom prst="roundRect">
            <a:avLst>
              <a:gd name="adj" fmla="val 2818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60" y="2500536"/>
            <a:ext cx="131787" cy="1053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317" y="2462659"/>
            <a:ext cx="3078882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Источники: Росстат, bn.ru, Wikipedia. Средний чек: 200 руб./мес.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96119" y="3968428"/>
            <a:ext cx="2657475" cy="755526"/>
          </a:xfrm>
          <a:prstGeom prst="roundRect">
            <a:avLst>
              <a:gd name="adj" fmla="val 2093"/>
            </a:avLst>
          </a:prstGeom>
          <a:solidFill>
            <a:srgbClr val="F9F7F7"/>
          </a:solidFill>
          <a:ln/>
        </p:spPr>
      </p:sp>
      <p:sp>
        <p:nvSpPr>
          <p:cNvPr id="12" name="Text 8"/>
          <p:cNvSpPr/>
          <p:nvPr/>
        </p:nvSpPr>
        <p:spPr>
          <a:xfrm>
            <a:off x="601489" y="4073798"/>
            <a:ext cx="1317947" cy="17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📈</a:t>
            </a: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Рост рынка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1489" y="4306491"/>
            <a:ext cx="2446734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Устойчивый рост числа арендаторов в крупных городах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243188" y="3968428"/>
            <a:ext cx="2657549" cy="755526"/>
          </a:xfrm>
          <a:prstGeom prst="roundRect">
            <a:avLst>
              <a:gd name="adj" fmla="val 2093"/>
            </a:avLst>
          </a:prstGeom>
          <a:solidFill>
            <a:srgbClr val="F9F7F7"/>
          </a:solidFill>
          <a:ln/>
        </p:spPr>
      </p:sp>
      <p:sp>
        <p:nvSpPr>
          <p:cNvPr id="15" name="Text 11"/>
          <p:cNvSpPr/>
          <p:nvPr/>
        </p:nvSpPr>
        <p:spPr>
          <a:xfrm>
            <a:off x="3348558" y="4073798"/>
            <a:ext cx="1317947" cy="17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📱</a:t>
            </a: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Цифровизация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48558" y="4306491"/>
            <a:ext cx="244680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Пользователи готовы переходить в приложения для управления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990332" y="3968428"/>
            <a:ext cx="2657549" cy="755526"/>
          </a:xfrm>
          <a:prstGeom prst="roundRect">
            <a:avLst>
              <a:gd name="adj" fmla="val 2093"/>
            </a:avLst>
          </a:prstGeom>
          <a:solidFill>
            <a:srgbClr val="F9F7F7"/>
          </a:solidFill>
          <a:ln/>
        </p:spPr>
      </p:sp>
      <p:sp>
        <p:nvSpPr>
          <p:cNvPr id="18" name="Text 14"/>
          <p:cNvSpPr/>
          <p:nvPr/>
        </p:nvSpPr>
        <p:spPr>
          <a:xfrm>
            <a:off x="6095702" y="4073798"/>
            <a:ext cx="1502941" cy="17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🔍</a:t>
            </a: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Окно возможностей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95702" y="4306491"/>
            <a:ext cx="244680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Отсутствие простых решений для малых арендодателей</a:t>
            </a:r>
            <a:endParaRPr lang="en-US" sz="8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1F07D8B-00D3-5524-E64A-493AE119A5FD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1487"/>
            <a:ext cx="942529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513457"/>
            <a:ext cx="1241375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КОНКУРЕНЦИЯ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63786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Позиционирование: не поиск, а управление после сделки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72491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Существующие решения либо слишком просты (мессенджеры, таблицы), либо слишком сложны (западные CRM). Ключник занимает нишу «простого, но структурированного» управления.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261369"/>
            <a:ext cx="8151763" cy="1793602"/>
          </a:xfrm>
          <a:prstGeom prst="roundRect">
            <a:avLst>
              <a:gd name="adj" fmla="val 10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0881" y="2266131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25004" y="2345308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Конкурент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662907" y="2345308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Тип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91310" y="2345308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Ограничение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26832" y="2345308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Наше преимущество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0881" y="2622947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25004" y="2702123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WhatsApp / Telegram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62907" y="2702123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Замена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1310" y="2702123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Нет структуры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26832" y="2702123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Единый чат + заявки по объекту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0881" y="2979762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5004" y="3058939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Excel / заметки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62907" y="3058939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Замена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1310" y="3058939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Нет автоматизации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26832" y="3058939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Напоминания и учёт платежей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0881" y="3336578"/>
            <a:ext cx="8142238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5004" y="3415754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Авито / Циан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62907" y="3415754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Косвенный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1310" y="3415754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Только поиск жильцов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26832" y="3415754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Закрываем «после аренды»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0881" y="3693393"/>
            <a:ext cx="8142238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5004" y="3772570"/>
            <a:ext cx="22423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Западные CRM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62907" y="3772570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Прямой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91310" y="3772570"/>
            <a:ext cx="224001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Сложные, дорогие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26832" y="3772570"/>
            <a:ext cx="26495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Простота, 200 руб./мес.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2154" y="4334024"/>
            <a:ext cx="84229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«Не поиск арендатора, а управление после сделки. Всё в одном месте. Простота вместо сложных CRM»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6119" y="4194497"/>
            <a:ext cx="14288" cy="477515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D0E08B5-F2DE-E6F4-C6D4-63B49D4D55C1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03A98DD-39D2-6282-F780-724CC5BFEB39}"/>
              </a:ext>
            </a:extLst>
          </p:cNvPr>
          <p:cNvSpPr/>
          <p:nvPr/>
        </p:nvSpPr>
        <p:spPr>
          <a:xfrm>
            <a:off x="8184292" y="49997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7149"/>
            <a:ext cx="1019696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569119"/>
            <a:ext cx="131854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БИЗНЕС-МОДЕЛЬ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19448"/>
            <a:ext cx="57348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Подписка за объект: 200 руб./мес.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06822" y="1393031"/>
            <a:ext cx="4103191" cy="3223245"/>
          </a:xfrm>
          <a:prstGeom prst="roundRect">
            <a:avLst>
              <a:gd name="adj" fmla="val 577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151700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Монетизация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1834828"/>
            <a:ext cx="3855244" cy="7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Ежемесячная подписка за объект аренды — </a:t>
            </a:r>
            <a:r>
              <a:rPr lang="en-US" sz="9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200 руб./мес.</a:t>
            </a: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Бесплатный пробный период 14 дней для первого объекта.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Целевой ARPU при расширенных функциях: </a:t>
            </a:r>
            <a:r>
              <a:rPr lang="en-US" sz="950" b="1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 300 руб./мес.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796" y="2653457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Расширенная аналитика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Автоматические договоры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Интеграция с банками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517005"/>
            <a:ext cx="24280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Unit-экономика (целевая)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28046" y="1850380"/>
            <a:ext cx="3924598" cy="792807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3759" y="1850380"/>
            <a:ext cx="57150" cy="792807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4909170" y="198864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LTV = 4 000 руб.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09170" y="2306464"/>
            <a:ext cx="36052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При оттоке 5%/мес: 200 ÷ 0,05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28046" y="2767161"/>
            <a:ext cx="3924598" cy="792807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3759" y="2767161"/>
            <a:ext cx="57150" cy="792807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6" name="Text 14"/>
          <p:cNvSpPr/>
          <p:nvPr/>
        </p:nvSpPr>
        <p:spPr>
          <a:xfrm>
            <a:off x="4909170" y="290542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CAC ≤ 1 300 руб.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09170" y="3223245"/>
            <a:ext cx="36052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Целевой порог привлечения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28046" y="3683943"/>
            <a:ext cx="3924598" cy="792807"/>
          </a:xfrm>
          <a:prstGeom prst="roundRect">
            <a:avLst>
              <a:gd name="adj" fmla="val 8650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13759" y="3683943"/>
            <a:ext cx="57150" cy="792807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20" name="Text 18"/>
          <p:cNvSpPr/>
          <p:nvPr/>
        </p:nvSpPr>
        <p:spPr>
          <a:xfrm>
            <a:off x="4909170" y="382220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LTV/CAC &gt;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09170" y="4140026"/>
            <a:ext cx="360521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Здоровая юнит-экономика</a:t>
            </a:r>
            <a:endParaRPr lang="en-US" sz="9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F2164A8-4C04-D9C7-F8E5-7A10BE14306E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53963"/>
            <a:ext cx="939850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795933"/>
            <a:ext cx="123869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GTM · ТРАКЦИЯ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46262"/>
            <a:ext cx="70815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От первых интервью к платящим клиентам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743819"/>
            <a:ext cx="21583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Каналы первой волны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061642"/>
            <a:ext cx="3924598" cy="110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Личные контакты, Telegram-чаты, локальные группы VK. Эксперименты 0–3 мес.: A/B тест сообщений, сравнение личных сообщений и постов, демо vs текст.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Драйвер после 100 клиентов: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реферальная программа и партнёрства с клининговыми и ремонтными службами.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305101"/>
            <a:ext cx="3924598" cy="923925"/>
          </a:xfrm>
          <a:prstGeom prst="roundRect">
            <a:avLst>
              <a:gd name="adj" fmla="val 2014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489647"/>
            <a:ext cx="155004" cy="1239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99071" y="3460031"/>
            <a:ext cx="339767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План на 3 месяца:</a:t>
            </a: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10 платящих клиентов, MRR 2 000 руб., NPS &gt; 50. Ключевая метрика: конверсия из демо в платящего &gt; 20%.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28046" y="1743819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Что уже сделано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28046" y="2077194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4774555" y="2100449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131073" y="211983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20 интервью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31073" y="2437656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 подтвердили боль и потребность в решении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28046" y="288414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4774555" y="290739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131073" y="2926779"/>
            <a:ext cx="192680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Прототип протестирован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31073" y="3244602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 пользователей прошли полный сценарий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28046" y="3691086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0" name="Text 17"/>
          <p:cNvSpPr/>
          <p:nvPr/>
        </p:nvSpPr>
        <p:spPr>
          <a:xfrm>
            <a:off x="4774555" y="371434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131073" y="373372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 заявок на пилот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31073" y="4051548"/>
            <a:ext cx="35215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Готовы стать первыми платящими клиентами</a:t>
            </a:r>
            <a:endParaRPr lang="en-US" sz="95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9D2BA13-9F53-39B6-0611-43886BE98CA4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6966"/>
            <a:ext cx="595610" cy="197644"/>
          </a:xfrm>
          <a:prstGeom prst="roundRect">
            <a:avLst>
              <a:gd name="adj" fmla="val 640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4133" y="523354"/>
            <a:ext cx="916781" cy="12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6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ФИНАНСЫ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720403"/>
            <a:ext cx="6412260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Прогноз на 24 месяца: прибыль с 3-го месяца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84982"/>
            <a:ext cx="4069928" cy="2675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46229" y="1273820"/>
            <a:ext cx="1895475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Ключевые показатели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546229" y="1539255"/>
            <a:ext cx="3106341" cy="621060"/>
          </a:xfrm>
          <a:prstGeom prst="roundRect">
            <a:avLst>
              <a:gd name="adj" fmla="val 2547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5651599" y="1644625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MRR через 24 мес.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51599" y="1898898"/>
            <a:ext cx="2895600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100 000 руб.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546229" y="2249909"/>
            <a:ext cx="3106341" cy="621060"/>
          </a:xfrm>
          <a:prstGeom prst="roundRect">
            <a:avLst>
              <a:gd name="adj" fmla="val 2547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5651599" y="2355279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ARR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51599" y="2609552"/>
            <a:ext cx="2895600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1,2 млн руб.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546229" y="2960563"/>
            <a:ext cx="3106341" cy="621060"/>
          </a:xfrm>
          <a:prstGeom prst="roundRect">
            <a:avLst>
              <a:gd name="adj" fmla="val 2547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5651599" y="3065934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Потребность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651599" y="3320207"/>
            <a:ext cx="2895600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1,5–2 млн руб.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46229" y="3682380"/>
            <a:ext cx="3106341" cy="873398"/>
          </a:xfrm>
          <a:prstGeom prst="roundRect">
            <a:avLst>
              <a:gd name="adj" fmla="val 1811"/>
            </a:avLst>
          </a:prstGeom>
          <a:solidFill>
            <a:srgbClr val="EDD5C4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99" y="3836194"/>
            <a:ext cx="131787" cy="10537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88757" y="3798317"/>
            <a:ext cx="2658442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Допущения: подписка 200 руб./мес., отток 7%, CAC = 1 500 руб. При нулевой зарплате команды — операционная прибыль с 3-го месяца. Детальная модель — в приложении.</a:t>
            </a:r>
            <a:endParaRPr lang="en-US" sz="8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41528FD-A1FD-70B1-AD60-D87BEEAB1E28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78334"/>
            <a:ext cx="680219" cy="242739"/>
          </a:xfrm>
          <a:prstGeom prst="roundRect">
            <a:avLst>
              <a:gd name="adj" fmla="val 6132"/>
            </a:avLst>
          </a:prstGeom>
          <a:noFill/>
          <a:ln w="4763">
            <a:solidFill>
              <a:srgbClr val="3E25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5295" y="1120304"/>
            <a:ext cx="979066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КОМАНДА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70633"/>
            <a:ext cx="781563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Техническая экспертиза + знание рынка аренды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944216"/>
            <a:ext cx="3998341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Бурков Олег · Дубов Никита · Дмитриев Артём</a:t>
            </a:r>
            <a:endParaRPr lang="en-US" sz="1200" b="1" dirty="0"/>
          </a:p>
        </p:txBody>
      </p:sp>
      <p:sp>
        <p:nvSpPr>
          <p:cNvPr id="7" name="Text 4"/>
          <p:cNvSpPr/>
          <p:nvPr/>
        </p:nvSpPr>
        <p:spPr>
          <a:xfrm>
            <a:off x="496119" y="2406328"/>
            <a:ext cx="399834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Разработка и продукт 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 проектирование архитектуры, разработка MVP, техническое видение продукта. Уже создан работающий кликабельный прототип.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917990" y="194421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Долгова Софья</a:t>
            </a:r>
            <a:endParaRPr lang="en-US" sz="1200" b="1" dirty="0"/>
          </a:p>
        </p:txBody>
      </p:sp>
      <p:sp>
        <p:nvSpPr>
          <p:cNvPr id="10" name="Text 6"/>
          <p:cNvSpPr/>
          <p:nvPr/>
        </p:nvSpPr>
        <p:spPr>
          <a:xfrm>
            <a:off x="4917989" y="2331913"/>
            <a:ext cx="372989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Маркетинг, продажи и управление</a:t>
            </a: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проведение CustDev, формирование GTM-стратегии, работа с первыми клиентами и партнёрствами.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96119" y="3339703"/>
            <a:ext cx="8151763" cy="725463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524250"/>
            <a:ext cx="155004" cy="1239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9071" y="3494633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✅ </a:t>
            </a:r>
            <a:r>
              <a:rPr lang="en-US" sz="9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Почему справимся:</a:t>
            </a: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сочетание технической экспертизы и глубокого понимания рынка аренды. Уже есть прототип, результаты CustDev и первые заявки на пилот.</a:t>
            </a:r>
            <a:endParaRPr lang="en-US" sz="9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433AC47-F03C-9D24-C270-C91A43F5D7BD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8041"/>
            <a:ext cx="1383729" cy="188119"/>
          </a:xfrm>
          <a:prstGeom prst="roundRect">
            <a:avLst>
              <a:gd name="adj" fmla="val 6726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559371" y="429667"/>
            <a:ext cx="1714426" cy="12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ИНВЕСТИЦИОННЫЙ ЗАПРОС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21953"/>
            <a:ext cx="5410944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3 000 000 рублей на 8 месяцев роста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420216" y="1085776"/>
            <a:ext cx="4099099" cy="3659609"/>
          </a:xfrm>
          <a:prstGeom prst="roundRect">
            <a:avLst>
              <a:gd name="adj" fmla="val 432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525587" y="1175370"/>
            <a:ext cx="1995860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Использование средств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1299" y="1426518"/>
            <a:ext cx="28575" cy="438894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8" name="Text 6"/>
          <p:cNvSpPr/>
          <p:nvPr/>
        </p:nvSpPr>
        <p:spPr>
          <a:xfrm>
            <a:off x="659532" y="1440805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1,0 млн руб.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9532" y="1695078"/>
            <a:ext cx="375441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Разработка и поддержка MVP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11299" y="2016026"/>
            <a:ext cx="28575" cy="438894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1" name="Text 9"/>
          <p:cNvSpPr/>
          <p:nvPr/>
        </p:nvSpPr>
        <p:spPr>
          <a:xfrm>
            <a:off x="659532" y="2030313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1,2 млн руб.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9532" y="2284586"/>
            <a:ext cx="375441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Маркетинг и привлечение первых 100 клиентов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1299" y="2605534"/>
            <a:ext cx="28575" cy="438894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2"/>
          <p:cNvSpPr/>
          <p:nvPr/>
        </p:nvSpPr>
        <p:spPr>
          <a:xfrm>
            <a:off x="659532" y="2619821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0,3 млн руб.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9532" y="2874094"/>
            <a:ext cx="375441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Операционные расходы (серверы, домены, юридические)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1299" y="3195042"/>
            <a:ext cx="28575" cy="438894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659532" y="3209330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0,5 млн руб.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9532" y="3463603"/>
            <a:ext cx="375441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Резерв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05350" y="1175370"/>
            <a:ext cx="2033662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Milestones за 8 месяцев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5350" y="1440805"/>
            <a:ext cx="210815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5350" y="1605707"/>
            <a:ext cx="3947294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2" name="Text 20"/>
          <p:cNvSpPr/>
          <p:nvPr/>
        </p:nvSpPr>
        <p:spPr>
          <a:xfrm>
            <a:off x="4705350" y="1686967"/>
            <a:ext cx="1543422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100 платящих клиентов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5350" y="1941240"/>
            <a:ext cx="3947294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MRR 20 000 руб.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05350" y="2265908"/>
            <a:ext cx="210815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05350" y="2430810"/>
            <a:ext cx="3947294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6" name="Text 24"/>
          <p:cNvSpPr/>
          <p:nvPr/>
        </p:nvSpPr>
        <p:spPr>
          <a:xfrm>
            <a:off x="4705350" y="2512070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LTV/CAC &gt; 2,5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5350" y="2766343"/>
            <a:ext cx="3947294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Подтверждённая юнит-экономика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5350" y="3091011"/>
            <a:ext cx="210815" cy="131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5350" y="3255913"/>
            <a:ext cx="3947294" cy="14288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30" name="Text 28"/>
          <p:cNvSpPr/>
          <p:nvPr/>
        </p:nvSpPr>
        <p:spPr>
          <a:xfrm>
            <a:off x="4705350" y="3337173"/>
            <a:ext cx="2677269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Реферальная программа + 2 партнёрства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05350" y="3591446"/>
            <a:ext cx="3947294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Запуск каналов органического роста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5350" y="3927277"/>
            <a:ext cx="3947294" cy="717352"/>
          </a:xfrm>
          <a:prstGeom prst="roundRect">
            <a:avLst>
              <a:gd name="adj" fmla="val 2205"/>
            </a:avLst>
          </a:prstGeom>
          <a:solidFill>
            <a:srgbClr val="B6D6FC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20" y="4081090"/>
            <a:ext cx="131787" cy="10537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047878" y="4043214"/>
            <a:ext cx="3499396" cy="468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Формат:</a:t>
            </a: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конвертируемый</a:t>
            </a: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800" dirty="0" err="1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заё</a:t>
            </a:r>
            <a:r>
              <a:rPr lang="ru-RU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й</a:t>
            </a: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м на 8 месяцев.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Оценка pre-money:</a:t>
            </a:r>
            <a:r>
              <a:rPr lang="en-US" sz="8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20–25 млн руб. (венчурный метод + мультипликаторы).</a:t>
            </a:r>
            <a:endParaRPr lang="en-US" sz="80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400987AC-E030-84E6-0809-2484D9038088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921AE5-41B1-929C-3433-285EE3C4BC64}"/>
              </a:ext>
            </a:extLst>
          </p:cNvPr>
          <p:cNvSpPr/>
          <p:nvPr/>
        </p:nvSpPr>
        <p:spPr>
          <a:xfrm>
            <a:off x="8031892" y="4847379"/>
            <a:ext cx="1069742" cy="22242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56B11-32CD-C8D8-7824-2B4E3B8ECD9B}"/>
              </a:ext>
            </a:extLst>
          </p:cNvPr>
          <p:cNvSpPr txBox="1"/>
          <p:nvPr/>
        </p:nvSpPr>
        <p:spPr>
          <a:xfrm>
            <a:off x="1126152" y="2156251"/>
            <a:ext cx="68916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cs typeface="Platypi Medium" panose="020B0604020202020204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78453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944</Words>
  <Application>Microsoft Office PowerPoint</Application>
  <PresentationFormat>Экран (16:9)</PresentationFormat>
  <Paragraphs>148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Source Serif 4</vt:lpstr>
      <vt:lpstr>Platypi Light</vt:lpstr>
      <vt:lpstr>Arial</vt:lpstr>
      <vt:lpstr>Platypi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Софья Долгова</cp:lastModifiedBy>
  <cp:revision>2</cp:revision>
  <dcterms:created xsi:type="dcterms:W3CDTF">2026-05-26T08:38:57Z</dcterms:created>
  <dcterms:modified xsi:type="dcterms:W3CDTF">2026-05-26T08:49:46Z</dcterms:modified>
</cp:coreProperties>
</file>