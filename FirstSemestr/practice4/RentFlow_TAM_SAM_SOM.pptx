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</p:sldIdLst>
  <p:sldSz cx="14630400" cy="8229600"/>
  <p:notesSz cx="8229600" cy="146304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</p:embeddedFont>
    <p:embeddedFont>
      <p:font typeface="Roboto Medium" panose="020B0604020202020204" charset="0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261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D%D0%B0%D1%81%D0%B5%D0%BB%D0%B5%D0%BD%D0%B8%D0%B5_%D0%A0%D0%BE%D1%81%D1%81%D0%B8%D0%B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u.wikipedia.org/wiki/%D0%93%D0%BE%D1%80%D0%BE%D0%B4%D0%B0-%D0%BC%D0%B8%D0%BB%D0%BB%D0%B8%D0%BE%D0%BD%D0%B5%D1%80%D1%8B_%D0%A0%D0%BE%D1%81%D1%81%D0%B8%D0%B8" TargetMode="External"/><Relationship Id="rId5" Type="http://schemas.openxmlformats.org/officeDocument/2006/relationships/hyperlink" Target="https://28.rosstat.gov.ru/storage/mediabank/pres14052025.pdf" TargetMode="External"/><Relationship Id="rId4" Type="http://schemas.openxmlformats.org/officeDocument/2006/relationships/hyperlink" Target="https://www.bn.ru/gazeta/news/28137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916" y="4229098"/>
            <a:ext cx="14630400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0" b="1" dirty="0" err="1">
                <a:solidFill>
                  <a:srgbClr val="5A6E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RentFlow</a:t>
            </a:r>
            <a:endParaRPr lang="en-US" sz="15000" b="1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352BDF5-65C1-49F6-8057-A8C8FA4975D8}"/>
              </a:ext>
            </a:extLst>
          </p:cNvPr>
          <p:cNvSpPr/>
          <p:nvPr/>
        </p:nvSpPr>
        <p:spPr>
          <a:xfrm>
            <a:off x="12661305" y="6175612"/>
            <a:ext cx="1806535" cy="12818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Выполнили</a:t>
            </a:r>
            <a:r>
              <a:rPr lang="en-US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ru-RU" sz="2000" b="1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Дмитриев А.В.</a:t>
            </a:r>
          </a:p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Дубов Н.С.</a:t>
            </a:r>
          </a:p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Бурков О.А.</a:t>
            </a:r>
          </a:p>
          <a:p>
            <a:pPr marL="0" indent="0" algn="r">
              <a:buNone/>
            </a:pPr>
            <a:r>
              <a:rPr lang="ru-RU" sz="20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Долгова С.С.</a:t>
            </a:r>
            <a:endParaRPr lang="en-US" sz="2000" b="1" dirty="0">
              <a:solidFill>
                <a:srgbClr val="CFD0D8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0AD6201C-FCB2-4545-89E4-6654682D0ADF}"/>
              </a:ext>
            </a:extLst>
          </p:cNvPr>
          <p:cNvSpPr/>
          <p:nvPr/>
        </p:nvSpPr>
        <p:spPr>
          <a:xfrm>
            <a:off x="173832" y="4682488"/>
            <a:ext cx="14630400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ru-RU" sz="2800" b="1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сервис управления арендной недвижимостью</a:t>
            </a:r>
            <a:endParaRPr lang="en-US" sz="2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920" y="1052632"/>
            <a:ext cx="7752159" cy="124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Проблема: хаос в управлении арендой жилья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95920" y="2556629"/>
            <a:ext cx="7752159" cy="1193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Арендодатель управляет жильём через разрозненные инструменты — мессенджеры, таблицы, звонки. Нет системы контроля оплат и задач → возникают просрочки и потеря информации. При наличии нескольких объектов нагрузка растёт → ошибки, конфликты и финансовые потери.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52807" y="3946684"/>
            <a:ext cx="3919776" cy="3230166"/>
          </a:xfrm>
          <a:prstGeom prst="roundRect">
            <a:avLst>
              <a:gd name="adj" fmla="val 4432"/>
            </a:avLst>
          </a:prstGeom>
          <a:solidFill>
            <a:srgbClr val="5A6ED8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51642" y="4120991"/>
            <a:ext cx="3522107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Почему текущие решения не закрывают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51642" y="4916805"/>
            <a:ext cx="3522107" cy="161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Мессенджеры</a:t>
            </a: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нет структуры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Таблицы</a:t>
            </a: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неудобны и не автоматизированы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Площадки (Циан, Авито)</a:t>
            </a: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не работают после сделки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822150" y="4120991"/>
            <a:ext cx="249686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Сигналы / основания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822150" y="4606052"/>
            <a:ext cx="3633549" cy="250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9% населения России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арендуют жильё (bn.ru)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Практика: большинство арендодателей используют </a:t>
            </a: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 + заметки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Отзывы и форумы: частые жалобы на просрочки и «потерянные договорённости»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7805" y="1965841"/>
            <a:ext cx="7529274" cy="48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Целевой сегмент: частные арендодатели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37805" y="2706172"/>
            <a:ext cx="192095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Описание сегмента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37805" y="3050262"/>
            <a:ext cx="3846790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Частные лица, сдающие </a:t>
            </a: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1–10 объектов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 используют профессиональные CRM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Общаются с арендаторами напрямую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Ведут учёт вручную или «в голове»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Основной рынок: </a:t>
            </a:r>
            <a:r>
              <a:rPr lang="en-US" sz="12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города-миллионники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7805" y="4331137"/>
            <a:ext cx="2414588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Где проявляется сценарий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7805" y="4675227"/>
            <a:ext cx="3846790" cy="412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Сдача квартиры → ежемесячная оплата → решение бытовых проблем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37805" y="5191720"/>
            <a:ext cx="192095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Критерии выбора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7805" y="5535811"/>
            <a:ext cx="3846790" cy="691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Простота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Контроль оплат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Низкая цена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56415" y="2602111"/>
            <a:ext cx="4068008" cy="3661648"/>
          </a:xfrm>
          <a:prstGeom prst="roundRect">
            <a:avLst>
              <a:gd name="adj" fmla="val 3022"/>
            </a:avLst>
          </a:prstGeom>
          <a:solidFill>
            <a:srgbClr val="5A6ED8">
              <a:alpha val="9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810006" y="2706172"/>
            <a:ext cx="192095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JTBD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40511" y="3063240"/>
            <a:ext cx="3530322" cy="618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Когда я сдаю квартиру, я хочу удобно контролировать оплату и общение, чтобы не терять деньги и не держать всё в голове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10006" y="3063240"/>
            <a:ext cx="22860" cy="618649"/>
          </a:xfrm>
          <a:prstGeom prst="rect">
            <a:avLst/>
          </a:prstGeom>
          <a:solidFill>
            <a:srgbClr val="5A6ED8"/>
          </a:solidFill>
          <a:ln/>
        </p:spPr>
      </p:sp>
      <p:sp>
        <p:nvSpPr>
          <p:cNvPr id="14" name="Text 11"/>
          <p:cNvSpPr/>
          <p:nvPr/>
        </p:nvSpPr>
        <p:spPr>
          <a:xfrm>
            <a:off x="4810006" y="3798927"/>
            <a:ext cx="1920954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Барьеры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10006" y="4143018"/>
            <a:ext cx="3760827" cy="44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«Я и так справляюсь»</a:t>
            </a:r>
            <a:endParaRPr lang="en-US" sz="1200" dirty="0"/>
          </a:p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Недоверие к новым сервисам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088" y="910352"/>
            <a:ext cx="11423571" cy="629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Рынок: потенциал сервиса управления арендой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5088" y="1897618"/>
            <a:ext cx="13220224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Метод: </a:t>
            </a: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Комбинированный (top-down + bottom-up)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5088" y="2403038"/>
            <a:ext cx="4287441" cy="2575679"/>
          </a:xfrm>
          <a:prstGeom prst="roundRect">
            <a:avLst>
              <a:gd name="adj" fmla="val 328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162" y="2612112"/>
            <a:ext cx="2518172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TAM — весь рынок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162" y="3034070"/>
            <a:ext cx="3869293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146 млн человек × 9% арендаторов / 2.7 чел. = </a:t>
            </a: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4.87 млн домохозяйств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162" y="3749754"/>
            <a:ext cx="3869293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Годовой доход с одного домохозяйства: 200₽ × 12 мес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162" y="4465439"/>
            <a:ext cx="3869293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👉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TAM = 11.7 млрд ₽ / год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171361" y="2403038"/>
            <a:ext cx="4287560" cy="2575679"/>
          </a:xfrm>
          <a:prstGeom prst="roundRect">
            <a:avLst>
              <a:gd name="adj" fmla="val 328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80434" y="2612112"/>
            <a:ext cx="3003709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SAM — доступный рынок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380434" y="3034070"/>
            <a:ext cx="3869412" cy="608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25% (города-миллионники) = </a:t>
            </a: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1.21 млн домохозяйств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380434" y="3749754"/>
            <a:ext cx="3869412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👉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SAM = 2.9 млрд ₽ / год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37752" y="2403038"/>
            <a:ext cx="4287560" cy="2575679"/>
          </a:xfrm>
          <a:prstGeom prst="roundRect">
            <a:avLst>
              <a:gd name="adj" fmla="val 3285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6826" y="2612112"/>
            <a:ext cx="3164919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SOM — реалистичная доля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46826" y="3034070"/>
            <a:ext cx="3869412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1% от SAM = </a:t>
            </a: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12 177 клиентов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846826" y="3445550"/>
            <a:ext cx="3869412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👉</a:t>
            </a: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SOM = 29 млн ₽ / год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05088" y="5358765"/>
            <a:ext cx="2518172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Параметры расчёта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05088" y="5852279"/>
            <a:ext cx="6364367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Подписка = </a:t>
            </a:r>
            <a:r>
              <a:rPr lang="en-US" sz="15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200₽/мес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Фокус на крупных городах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68565" y="5358765"/>
            <a:ext cx="2518172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Источники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7568565" y="5852279"/>
            <a:ext cx="6364367" cy="1404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Wikipedia (население РФ)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bn.ru (доля аренды)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Росстат (размер семьи)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Wikipedia (города-миллионники)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47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Почему сейчас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717125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7171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Рост рынка аренды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20754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Всё больше людей не покупают жильё, а снимают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2717125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2717125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Цифровизация бытовых процессов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356187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Пользователи готовы решать всё через приложения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717125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2717125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Рост числа частных инвесторов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561874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Больше людей с несколькими объектами в недвижимости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4741307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4741307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Привычка к экосистемам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5586055"/>
            <a:ext cx="3308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Всё в одном месте → ожидание удобных сервисов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893" y="4741307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86356" y="4741307"/>
            <a:ext cx="33081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Недостаток простых решений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6086356" y="5586055"/>
            <a:ext cx="3308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Существующие инструменты либо слишком простые, либо слишком сложные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98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Проверка логики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72258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006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Есть проблема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49674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Хаос в управлении арендой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872258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006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Есть сегмент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496747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Частные арендодатели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086463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220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Есть рынок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571095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 </a:t>
            </a:r>
            <a:r>
              <a:rPr lang="en-US" sz="175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11.7 млрд ₽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086463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220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Есть момент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571095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Рост аренды + цифровизация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793790" y="6555819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0F163E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04" y="6899910"/>
            <a:ext cx="283488" cy="22681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30906" y="683930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👉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Вывод: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Есть окно для </a:t>
            </a:r>
            <a:r>
              <a:rPr lang="en-US" sz="1750" b="1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простого и массового продукта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082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Список источников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3236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033236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290530"/>
            <a:ext cx="40693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Население России — Wikipedia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780949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https://ru.wikipedia.org/wiki/Население_России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033236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033236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290530"/>
            <a:ext cx="37408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Доля аренды жилья — bn.ru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780949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https://www.bn.ru/gazeta/news/281370/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627959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62795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885253"/>
            <a:ext cx="3326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Размер семьи — Росстат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375672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https://28.rosstat.gov.ru/storage/mediabank/pres14052025.pdf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627959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000018">
              <a:alpha val="95000"/>
            </a:srgbClr>
          </a:solidFill>
          <a:ln w="30480">
            <a:solidFill>
              <a:srgbClr val="313E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62795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5A6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885253"/>
            <a:ext cx="54804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Города-миллионники России — Wikipedia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375672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5A6ED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https://ru.wikipedia.org/wiki/Города-миллионеры_России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525</Words>
  <Application>Microsoft Office PowerPoint</Application>
  <PresentationFormat>Произвольный</PresentationFormat>
  <Paragraphs>92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Calibri</vt:lpstr>
      <vt:lpstr>Roboto</vt:lpstr>
      <vt:lpstr>Arial</vt:lpstr>
      <vt:lpstr>Roboto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Артём</dc:creator>
  <cp:lastModifiedBy>Артём Дмитриев</cp:lastModifiedBy>
  <cp:revision>2</cp:revision>
  <dcterms:created xsi:type="dcterms:W3CDTF">2026-03-17T10:56:32Z</dcterms:created>
  <dcterms:modified xsi:type="dcterms:W3CDTF">2026-03-17T10:59:25Z</dcterms:modified>
</cp:coreProperties>
</file>